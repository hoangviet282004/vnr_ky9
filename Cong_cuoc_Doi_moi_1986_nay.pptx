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0712"/>
        </a:solidFill>
        <a:effectLst/>
      </p:bgPr>
    </p:bg>
    <p:spTree>
      <p:nvGrpSpPr>
        <p:cNvPr id="1" name=""/>
        <p:cNvGrpSpPr/>
        <p:nvPr/>
      </p:nvGrpSpPr>
      <p:grpSpPr/>
      <p:sp>
        <p:nvSpPr>
          <p:cNvPr id="2" name="TextBox 1"/>
          <p:cNvSpPr txBox="1"/>
          <p:nvPr/>
        </p:nvSpPr>
        <p:spPr>
          <a:xfrm>
            <a:off x="1371600" y="822960"/>
            <a:ext cx="9445752" cy="457200"/>
          </a:xfrm>
          <a:prstGeom prst="rect">
            <a:avLst/>
          </a:prstGeom>
          <a:noFill/>
        </p:spPr>
        <p:txBody>
          <a:bodyPr wrap="square" anchor="ctr" lIns="0" rIns="0" tIns="0" bIns="0">
            <a:spAutoFit/>
          </a:bodyPr>
          <a:lstStyle/>
          <a:p>
            <a:pPr algn="ctr">
              <a:lnSpc>
                <a:spcPct val="115000"/>
              </a:lnSpc>
              <a:spcAft>
                <a:spcPts val="0"/>
              </a:spcAft>
            </a:pPr>
            <a:r>
              <a:rPr sz="3200" b="0" i="0">
                <a:solidFill>
                  <a:srgbClr val="FFCD00"/>
                </a:solidFill>
                <a:latin typeface="Calibri"/>
              </a:rPr>
              <a:t>★</a:t>
            </a:r>
          </a:p>
        </p:txBody>
      </p:sp>
      <p:sp>
        <p:nvSpPr>
          <p:cNvPr id="3" name="TextBox 2"/>
          <p:cNvSpPr txBox="1"/>
          <p:nvPr/>
        </p:nvSpPr>
        <p:spPr>
          <a:xfrm>
            <a:off x="1371600" y="1463040"/>
            <a:ext cx="9445752" cy="457200"/>
          </a:xfrm>
          <a:prstGeom prst="rect">
            <a:avLst/>
          </a:prstGeom>
          <a:noFill/>
        </p:spPr>
        <p:txBody>
          <a:bodyPr wrap="square" anchor="t" lIns="0" rIns="0" tIns="0" bIns="0">
            <a:spAutoFit/>
          </a:bodyPr>
          <a:lstStyle/>
          <a:p>
            <a:pPr algn="ctr">
              <a:lnSpc>
                <a:spcPct val="115000"/>
              </a:lnSpc>
              <a:spcAft>
                <a:spcPts val="0"/>
              </a:spcAft>
            </a:pPr>
            <a:r>
              <a:rPr sz="1300" b="1" i="0">
                <a:solidFill>
                  <a:srgbClr val="F4DD8A"/>
                </a:solidFill>
                <a:latin typeface="Calibri"/>
              </a:rPr>
              <a:t>ĐƯỜNG LỐI CÁCH MẠNG CỦA ĐẢNG CỘNG SẢN VIỆT NAM</a:t>
            </a:r>
          </a:p>
        </p:txBody>
      </p:sp>
      <p:sp>
        <p:nvSpPr>
          <p:cNvPr id="4" name="TextBox 3"/>
          <p:cNvSpPr txBox="1"/>
          <p:nvPr/>
        </p:nvSpPr>
        <p:spPr>
          <a:xfrm>
            <a:off x="1097280" y="2011680"/>
            <a:ext cx="9994392" cy="1828800"/>
          </a:xfrm>
          <a:prstGeom prst="rect">
            <a:avLst/>
          </a:prstGeom>
          <a:noFill/>
        </p:spPr>
        <p:txBody>
          <a:bodyPr wrap="square" anchor="t" lIns="0" rIns="0" tIns="0" bIns="0">
            <a:spAutoFit/>
          </a:bodyPr>
          <a:lstStyle/>
          <a:p>
            <a:pPr algn="ctr">
              <a:lnSpc>
                <a:spcPct val="130000"/>
              </a:lnSpc>
              <a:spcAft>
                <a:spcPts val="400"/>
              </a:spcAft>
            </a:pPr>
            <a:r>
              <a:rPr sz="3200" b="1" i="0">
                <a:solidFill>
                  <a:srgbClr val="FFFFFF"/>
                </a:solidFill>
                <a:latin typeface="Georgia"/>
              </a:rPr>
              <a:t>Tiếp tục công cuộc Đổi mới, đẩy mạnh Công nghiệp hóa,</a:t>
            </a:r>
          </a:p>
          <a:p>
            <a:pPr algn="ctr">
              <a:lnSpc>
                <a:spcPct val="130000"/>
              </a:lnSpc>
              <a:spcAft>
                <a:spcPts val="0"/>
              </a:spcAft>
            </a:pPr>
            <a:r>
              <a:rPr sz="3200" b="1" i="0">
                <a:solidFill>
                  <a:srgbClr val="FFFFFF"/>
                </a:solidFill>
                <a:latin typeface="Georgia"/>
              </a:rPr>
              <a:t>Hiện đại hóa và Hội nhập quốc tế</a:t>
            </a:r>
          </a:p>
        </p:txBody>
      </p:sp>
      <p:sp>
        <p:nvSpPr>
          <p:cNvPr id="5" name="TextBox 4"/>
          <p:cNvSpPr txBox="1"/>
          <p:nvPr/>
        </p:nvSpPr>
        <p:spPr>
          <a:xfrm>
            <a:off x="1371600" y="3794760"/>
            <a:ext cx="9445752" cy="457200"/>
          </a:xfrm>
          <a:prstGeom prst="rect">
            <a:avLst/>
          </a:prstGeom>
          <a:noFill/>
        </p:spPr>
        <p:txBody>
          <a:bodyPr wrap="square" anchor="t" lIns="0" rIns="0" tIns="0" bIns="0">
            <a:spAutoFit/>
          </a:bodyPr>
          <a:lstStyle/>
          <a:p>
            <a:pPr algn="ctr">
              <a:lnSpc>
                <a:spcPct val="115000"/>
              </a:lnSpc>
              <a:spcAft>
                <a:spcPts val="0"/>
              </a:spcAft>
            </a:pPr>
            <a:r>
              <a:rPr sz="1700" b="0" i="0">
                <a:solidFill>
                  <a:srgbClr val="F4DD8A"/>
                </a:solidFill>
                <a:latin typeface="Calibri"/>
              </a:rPr>
              <a:t>(Từ năm 1986 đến nay)</a:t>
            </a:r>
          </a:p>
        </p:txBody>
      </p:sp>
      <p:sp>
        <p:nvSpPr>
          <p:cNvPr id="6" name="Rounded Rectangle 5"/>
          <p:cNvSpPr/>
          <p:nvPr/>
        </p:nvSpPr>
        <p:spPr>
          <a:xfrm>
            <a:off x="4480560" y="4663440"/>
            <a:ext cx="1463040" cy="914400"/>
          </a:xfrm>
          <a:prstGeom prst="roundRect">
            <a:avLst>
              <a:gd name="adj" fmla="val 8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4773168"/>
            <a:ext cx="1280160" cy="694944"/>
          </a:xfrm>
          <a:prstGeom prst="rect">
            <a:avLst/>
          </a:prstGeom>
          <a:noFill/>
        </p:spPr>
        <p:txBody>
          <a:bodyPr wrap="square" anchor="ctr" lIns="0" rIns="0" tIns="0" bIns="0">
            <a:spAutoFit/>
          </a:bodyPr>
          <a:lstStyle/>
          <a:p>
            <a:pPr algn="ctr">
              <a:lnSpc>
                <a:spcPct val="115000"/>
              </a:lnSpc>
              <a:spcAft>
                <a:spcPts val="400"/>
              </a:spcAft>
            </a:pPr>
            <a:r>
              <a:rPr sz="1600" b="1" i="0">
                <a:solidFill>
                  <a:srgbClr val="C8102E"/>
                </a:solidFill>
                <a:latin typeface="Georgia"/>
              </a:rPr>
              <a:t>1996</a:t>
            </a:r>
          </a:p>
          <a:p>
            <a:pPr algn="ctr">
              <a:lnSpc>
                <a:spcPct val="115000"/>
              </a:lnSpc>
              <a:spcAft>
                <a:spcPts val="0"/>
              </a:spcAft>
            </a:pPr>
            <a:r>
              <a:rPr sz="1050" b="0" i="0">
                <a:solidFill>
                  <a:srgbClr val="3A2A26"/>
                </a:solidFill>
                <a:latin typeface="Calibri"/>
              </a:rPr>
              <a:t>Đại hội VIII</a:t>
            </a:r>
          </a:p>
        </p:txBody>
      </p:sp>
      <p:sp>
        <p:nvSpPr>
          <p:cNvPr id="8" name="TextBox 7"/>
          <p:cNvSpPr txBox="1"/>
          <p:nvPr/>
        </p:nvSpPr>
        <p:spPr>
          <a:xfrm>
            <a:off x="5943600" y="4663440"/>
            <a:ext cx="320040" cy="914400"/>
          </a:xfrm>
          <a:prstGeom prst="rect">
            <a:avLst/>
          </a:prstGeom>
          <a:noFill/>
        </p:spPr>
        <p:txBody>
          <a:bodyPr wrap="square" anchor="ctr" lIns="0" rIns="0" tIns="0" bIns="0">
            <a:spAutoFit/>
          </a:bodyPr>
          <a:lstStyle/>
          <a:p>
            <a:pPr algn="ctr">
              <a:lnSpc>
                <a:spcPct val="115000"/>
              </a:lnSpc>
              <a:spcAft>
                <a:spcPts val="0"/>
              </a:spcAft>
            </a:pPr>
            <a:r>
              <a:rPr sz="2000" b="0" i="0">
                <a:solidFill>
                  <a:srgbClr val="FFCD00"/>
                </a:solidFill>
                <a:latin typeface="Calibri"/>
              </a:rPr>
              <a:t>→</a:t>
            </a:r>
          </a:p>
        </p:txBody>
      </p:sp>
      <p:sp>
        <p:nvSpPr>
          <p:cNvPr id="9" name="Rounded Rectangle 8"/>
          <p:cNvSpPr/>
          <p:nvPr/>
        </p:nvSpPr>
        <p:spPr>
          <a:xfrm>
            <a:off x="6263640" y="4663440"/>
            <a:ext cx="1463040" cy="914400"/>
          </a:xfrm>
          <a:prstGeom prst="roundRect">
            <a:avLst>
              <a:gd name="adj" fmla="val 8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4773168"/>
            <a:ext cx="1280160" cy="694944"/>
          </a:xfrm>
          <a:prstGeom prst="rect">
            <a:avLst/>
          </a:prstGeom>
          <a:noFill/>
        </p:spPr>
        <p:txBody>
          <a:bodyPr wrap="square" anchor="ctr" lIns="0" rIns="0" tIns="0" bIns="0">
            <a:spAutoFit/>
          </a:bodyPr>
          <a:lstStyle/>
          <a:p>
            <a:pPr algn="ctr">
              <a:lnSpc>
                <a:spcPct val="115000"/>
              </a:lnSpc>
              <a:spcAft>
                <a:spcPts val="400"/>
              </a:spcAft>
            </a:pPr>
            <a:r>
              <a:rPr sz="1600" b="1" i="0">
                <a:solidFill>
                  <a:srgbClr val="C8102E"/>
                </a:solidFill>
                <a:latin typeface="Georgia"/>
              </a:rPr>
              <a:t>2001</a:t>
            </a:r>
          </a:p>
          <a:p>
            <a:pPr algn="ctr">
              <a:lnSpc>
                <a:spcPct val="115000"/>
              </a:lnSpc>
              <a:spcAft>
                <a:spcPts val="0"/>
              </a:spcAft>
            </a:pPr>
            <a:r>
              <a:rPr sz="1050" b="0" i="0">
                <a:solidFill>
                  <a:srgbClr val="3A2A26"/>
                </a:solidFill>
                <a:latin typeface="Calibri"/>
              </a:rPr>
              <a:t>Đại hội IX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NỘI DUNG TRÌNH BÀY</a:t>
            </a:r>
          </a:p>
        </p:txBody>
      </p:sp>
      <p:sp>
        <p:nvSpPr>
          <p:cNvPr id="3" name="TextBox 2"/>
          <p:cNvSpPr txBox="1"/>
          <p:nvPr/>
        </p:nvSpPr>
        <p:spPr>
          <a:xfrm>
            <a:off x="640080" y="914400"/>
            <a:ext cx="10881360" cy="640080"/>
          </a:xfrm>
          <a:prstGeom prst="rect">
            <a:avLst/>
          </a:prstGeom>
          <a:noFill/>
        </p:spPr>
        <p:txBody>
          <a:bodyPr wrap="square" anchor="t" lIns="0" rIns="0" tIns="0" bIns="0">
            <a:spAutoFit/>
          </a:bodyPr>
          <a:lstStyle/>
          <a:p>
            <a:pPr algn="l">
              <a:lnSpc>
                <a:spcPct val="115000"/>
              </a:lnSpc>
              <a:spcAft>
                <a:spcPts val="0"/>
              </a:spcAft>
            </a:pPr>
            <a:r>
              <a:rPr sz="2800" b="1" i="0">
                <a:solidFill>
                  <a:srgbClr val="1A1210"/>
                </a:solidFill>
                <a:latin typeface="Georgia"/>
              </a:rPr>
              <a:t>Mục lục</a:t>
            </a:r>
          </a:p>
        </p:txBody>
      </p:sp>
      <p:sp>
        <p:nvSpPr>
          <p:cNvPr id="4" name="Rectangle 3"/>
          <p:cNvSpPr/>
          <p:nvPr/>
        </p:nvSpPr>
        <p:spPr>
          <a:xfrm>
            <a:off x="640080" y="2011680"/>
            <a:ext cx="3520440"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084832"/>
            <a:ext cx="3520440" cy="2852928"/>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331720"/>
            <a:ext cx="2971800" cy="2377440"/>
          </a:xfrm>
          <a:prstGeom prst="rect">
            <a:avLst/>
          </a:prstGeom>
          <a:noFill/>
        </p:spPr>
        <p:txBody>
          <a:bodyPr wrap="square" anchor="t" lIns="0" rIns="0" tIns="0" bIns="0">
            <a:spAutoFit/>
          </a:bodyPr>
          <a:lstStyle/>
          <a:p>
            <a:pPr algn="l">
              <a:lnSpc>
                <a:spcPct val="115000"/>
              </a:lnSpc>
              <a:spcAft>
                <a:spcPts val="1400"/>
              </a:spcAft>
            </a:pPr>
            <a:r>
              <a:rPr sz="3600" b="1" i="0">
                <a:solidFill>
                  <a:srgbClr val="FFCD00"/>
                </a:solidFill>
                <a:latin typeface="Georgia"/>
              </a:rPr>
              <a:t>01</a:t>
            </a:r>
          </a:p>
          <a:p>
            <a:pPr algn="l">
              <a:lnSpc>
                <a:spcPct val="115000"/>
              </a:lnSpc>
              <a:spcAft>
                <a:spcPts val="800"/>
              </a:spcAft>
            </a:pPr>
            <a:r>
              <a:rPr sz="1800" b="1" i="0">
                <a:solidFill>
                  <a:srgbClr val="1A1210"/>
                </a:solidFill>
                <a:latin typeface="Georgia"/>
              </a:rPr>
              <a:t>Đại hội VIII (6/1996)</a:t>
            </a:r>
          </a:p>
          <a:p>
            <a:pPr algn="l">
              <a:lnSpc>
                <a:spcPct val="115000"/>
              </a:lnSpc>
              <a:spcAft>
                <a:spcPts val="0"/>
              </a:spcAft>
            </a:pPr>
            <a:r>
              <a:rPr sz="1300" b="0" i="0">
                <a:solidFill>
                  <a:srgbClr val="3A2A26"/>
                </a:solidFill>
                <a:latin typeface="Calibri"/>
              </a:rPr>
              <a:t>Bước chuyển sang thời kỳ đẩy mạnh CNH, HĐH</a:t>
            </a:r>
          </a:p>
        </p:txBody>
      </p:sp>
      <p:sp>
        <p:nvSpPr>
          <p:cNvPr id="7" name="Rectangle 6"/>
          <p:cNvSpPr/>
          <p:nvPr/>
        </p:nvSpPr>
        <p:spPr>
          <a:xfrm>
            <a:off x="4480560" y="2011680"/>
            <a:ext cx="3520440"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0560" y="2084832"/>
            <a:ext cx="3520440" cy="2852928"/>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2331720"/>
            <a:ext cx="2971800" cy="2377440"/>
          </a:xfrm>
          <a:prstGeom prst="rect">
            <a:avLst/>
          </a:prstGeom>
          <a:noFill/>
        </p:spPr>
        <p:txBody>
          <a:bodyPr wrap="square" anchor="t" lIns="0" rIns="0" tIns="0" bIns="0">
            <a:spAutoFit/>
          </a:bodyPr>
          <a:lstStyle/>
          <a:p>
            <a:pPr algn="l">
              <a:lnSpc>
                <a:spcPct val="115000"/>
              </a:lnSpc>
              <a:spcAft>
                <a:spcPts val="1400"/>
              </a:spcAft>
            </a:pPr>
            <a:r>
              <a:rPr sz="3600" b="1" i="0">
                <a:solidFill>
                  <a:srgbClr val="FFCD00"/>
                </a:solidFill>
                <a:latin typeface="Georgia"/>
              </a:rPr>
              <a:t>02</a:t>
            </a:r>
          </a:p>
          <a:p>
            <a:pPr algn="l">
              <a:lnSpc>
                <a:spcPct val="115000"/>
              </a:lnSpc>
              <a:spcAft>
                <a:spcPts val="800"/>
              </a:spcAft>
            </a:pPr>
            <a:r>
              <a:rPr sz="1800" b="1" i="0">
                <a:solidFill>
                  <a:srgbClr val="1A1210"/>
                </a:solidFill>
                <a:latin typeface="Georgia"/>
              </a:rPr>
              <a:t>Đại hội IX (4/2001)</a:t>
            </a:r>
          </a:p>
          <a:p>
            <a:pPr algn="l">
              <a:lnSpc>
                <a:spcPct val="115000"/>
              </a:lnSpc>
              <a:spcAft>
                <a:spcPts val="0"/>
              </a:spcAft>
            </a:pPr>
            <a:r>
              <a:rPr sz="1300" b="0" i="0">
                <a:solidFill>
                  <a:srgbClr val="3A2A26"/>
                </a:solidFill>
                <a:latin typeface="Calibri"/>
              </a:rPr>
              <a:t>Tiếp tục thực hiện CNH, HĐH đất nước</a:t>
            </a:r>
          </a:p>
        </p:txBody>
      </p:sp>
      <p:sp>
        <p:nvSpPr>
          <p:cNvPr id="10" name="Rectangle 9"/>
          <p:cNvSpPr/>
          <p:nvPr/>
        </p:nvSpPr>
        <p:spPr>
          <a:xfrm>
            <a:off x="8321040" y="2011680"/>
            <a:ext cx="3520440"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1040" y="2084832"/>
            <a:ext cx="3520440" cy="2852928"/>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2331720"/>
            <a:ext cx="2971800" cy="2377440"/>
          </a:xfrm>
          <a:prstGeom prst="rect">
            <a:avLst/>
          </a:prstGeom>
          <a:noFill/>
        </p:spPr>
        <p:txBody>
          <a:bodyPr wrap="square" anchor="t" lIns="0" rIns="0" tIns="0" bIns="0">
            <a:spAutoFit/>
          </a:bodyPr>
          <a:lstStyle/>
          <a:p>
            <a:pPr algn="l">
              <a:lnSpc>
                <a:spcPct val="115000"/>
              </a:lnSpc>
              <a:spcAft>
                <a:spcPts val="1400"/>
              </a:spcAft>
            </a:pPr>
            <a:r>
              <a:rPr sz="3600" b="1" i="0">
                <a:solidFill>
                  <a:srgbClr val="FFCD00"/>
                </a:solidFill>
                <a:latin typeface="Georgia"/>
              </a:rPr>
              <a:t>03</a:t>
            </a:r>
          </a:p>
          <a:p>
            <a:pPr algn="l">
              <a:lnSpc>
                <a:spcPct val="115000"/>
              </a:lnSpc>
              <a:spcAft>
                <a:spcPts val="800"/>
              </a:spcAft>
            </a:pPr>
            <a:r>
              <a:rPr sz="1800" b="1" i="0">
                <a:solidFill>
                  <a:srgbClr val="1A1210"/>
                </a:solidFill>
                <a:latin typeface="Georgia"/>
              </a:rPr>
              <a:t>Tổng kết &amp; Bài học</a:t>
            </a:r>
          </a:p>
          <a:p>
            <a:pPr algn="l">
              <a:lnSpc>
                <a:spcPct val="115000"/>
              </a:lnSpc>
              <a:spcAft>
                <a:spcPts val="0"/>
              </a:spcAft>
            </a:pPr>
            <a:r>
              <a:rPr sz="1300" b="0" i="0">
                <a:solidFill>
                  <a:srgbClr val="3A2A26"/>
                </a:solidFill>
                <a:latin typeface="Calibri"/>
              </a:rPr>
              <a:t>Chặng đường lịch sử và giá trị thời đại</a:t>
            </a:r>
          </a:p>
        </p:txBody>
      </p:sp>
      <p:sp>
        <p:nvSpPr>
          <p:cNvPr id="13" name="TextBox 12"/>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2/25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0712"/>
        </a:solidFill>
        <a:effectLst/>
      </p:bgPr>
    </p:bg>
    <p:spTree>
      <p:nvGrpSpPr>
        <p:cNvPr id="1" name=""/>
        <p:cNvGrpSpPr/>
        <p:nvPr/>
      </p:nvGrpSpPr>
      <p:grpSpPr/>
      <p:sp>
        <p:nvSpPr>
          <p:cNvPr id="2" name="TextBox 1"/>
          <p:cNvSpPr txBox="1"/>
          <p:nvPr/>
        </p:nvSpPr>
        <p:spPr>
          <a:xfrm>
            <a:off x="914400" y="2103120"/>
            <a:ext cx="5486400" cy="457200"/>
          </a:xfrm>
          <a:prstGeom prst="rect">
            <a:avLst/>
          </a:prstGeom>
          <a:noFill/>
        </p:spPr>
        <p:txBody>
          <a:bodyPr wrap="square" anchor="t" lIns="0" rIns="0" tIns="0" bIns="0">
            <a:spAutoFit/>
          </a:bodyPr>
          <a:lstStyle/>
          <a:p>
            <a:pPr algn="l">
              <a:lnSpc>
                <a:spcPct val="115000"/>
              </a:lnSpc>
              <a:spcAft>
                <a:spcPts val="0"/>
              </a:spcAft>
            </a:pPr>
            <a:r>
              <a:rPr sz="1500" b="1" i="0">
                <a:solidFill>
                  <a:srgbClr val="FFCD00"/>
                </a:solidFill>
                <a:latin typeface="Calibri"/>
              </a:rPr>
              <a:t>PHẦN 1</a:t>
            </a:r>
          </a:p>
        </p:txBody>
      </p:sp>
      <p:sp>
        <p:nvSpPr>
          <p:cNvPr id="3" name="TextBox 2"/>
          <p:cNvSpPr txBox="1"/>
          <p:nvPr/>
        </p:nvSpPr>
        <p:spPr>
          <a:xfrm>
            <a:off x="914400" y="2606040"/>
            <a:ext cx="9601200" cy="1463040"/>
          </a:xfrm>
          <a:prstGeom prst="rect">
            <a:avLst/>
          </a:prstGeom>
          <a:noFill/>
        </p:spPr>
        <p:txBody>
          <a:bodyPr wrap="square" anchor="t" lIns="0" rIns="0" tIns="0" bIns="0">
            <a:spAutoFit/>
          </a:bodyPr>
          <a:lstStyle/>
          <a:p>
            <a:pPr algn="l">
              <a:lnSpc>
                <a:spcPct val="115000"/>
              </a:lnSpc>
              <a:spcAft>
                <a:spcPts val="600"/>
              </a:spcAft>
            </a:pPr>
            <a:r>
              <a:rPr sz="4400" b="1" i="0">
                <a:solidFill>
                  <a:srgbClr val="FFFFFF"/>
                </a:solidFill>
                <a:latin typeface="Georgia"/>
              </a:rPr>
              <a:t>Đại hội VIII  </a:t>
            </a:r>
            <a:r>
              <a:rPr sz="2400" b="0" i="0">
                <a:solidFill>
                  <a:srgbClr val="F4DD8A"/>
                </a:solidFill>
                <a:latin typeface="Georgia"/>
              </a:rPr>
              <a:t>(6/1996)</a:t>
            </a:r>
          </a:p>
        </p:txBody>
      </p:sp>
      <p:sp>
        <p:nvSpPr>
          <p:cNvPr id="4" name="TextBox 3"/>
          <p:cNvSpPr txBox="1"/>
          <p:nvPr/>
        </p:nvSpPr>
        <p:spPr>
          <a:xfrm>
            <a:off x="914400" y="3749039"/>
            <a:ext cx="8229600" cy="822960"/>
          </a:xfrm>
          <a:prstGeom prst="rect">
            <a:avLst/>
          </a:prstGeom>
          <a:noFill/>
        </p:spPr>
        <p:txBody>
          <a:bodyPr wrap="square" anchor="t" lIns="0" rIns="0" tIns="0" bIns="0">
            <a:spAutoFit/>
          </a:bodyPr>
          <a:lstStyle/>
          <a:p>
            <a:pPr algn="l">
              <a:lnSpc>
                <a:spcPct val="115000"/>
              </a:lnSpc>
              <a:spcAft>
                <a:spcPts val="0"/>
              </a:spcAft>
            </a:pPr>
            <a:r>
              <a:rPr sz="1600" b="0" i="0">
                <a:solidFill>
                  <a:srgbClr val="EEDDDD"/>
                </a:solidFill>
                <a:latin typeface="Calibri"/>
              </a:rPr>
              <a:t>Bước chuyển sang thời kỳ đẩy mạnh công nghiệp hóa, hiện đại hóa</a:t>
            </a:r>
          </a:p>
        </p:txBody>
      </p:sp>
      <p:sp>
        <p:nvSpPr>
          <p:cNvPr id="5" name="TextBox 4"/>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3/25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1.1 · THÔNG TIN ĐẠI HỘI, BỐI CẢNH &amp; QUYẾT ĐỊNH CHIẾN LƯỢC</a:t>
            </a:r>
          </a:p>
        </p:txBody>
      </p:sp>
      <p:sp>
        <p:nvSpPr>
          <p:cNvPr id="3" name="Rectangle 2"/>
          <p:cNvSpPr/>
          <p:nvPr/>
        </p:nvSpPr>
        <p:spPr>
          <a:xfrm>
            <a:off x="640080" y="1051560"/>
            <a:ext cx="50800" cy="12344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90880" y="1051560"/>
            <a:ext cx="10830560" cy="123444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143000"/>
            <a:ext cx="10515600" cy="1051560"/>
          </a:xfrm>
          <a:prstGeom prst="rect">
            <a:avLst/>
          </a:prstGeom>
          <a:noFill/>
        </p:spPr>
        <p:txBody>
          <a:bodyPr wrap="square" anchor="t" lIns="0" rIns="0" tIns="0" bIns="0">
            <a:spAutoFit/>
          </a:bodyPr>
          <a:lstStyle/>
          <a:p>
            <a:pPr algn="l">
              <a:lnSpc>
                <a:spcPct val="115000"/>
              </a:lnSpc>
              <a:spcAft>
                <a:spcPts val="400"/>
              </a:spcAft>
            </a:pPr>
            <a:r>
              <a:rPr sz="1400" b="1" i="0">
                <a:solidFill>
                  <a:srgbClr val="1A1210"/>
                </a:solidFill>
                <a:latin typeface="Georgia"/>
              </a:rPr>
              <a:t>Đại hội đại biểu toàn quốc lần thứ VIII</a:t>
            </a:r>
          </a:p>
          <a:p>
            <a:pPr>
              <a:lnSpc>
                <a:spcPct val="120000"/>
              </a:lnSpc>
            </a:pPr>
            <a:r>
              <a:rPr sz="1300" b="0">
                <a:solidFill>
                  <a:srgbClr val="3A2A26"/>
                </a:solidFill>
                <a:latin typeface="Calibri"/>
              </a:rPr>
              <a:t>Họp tại Hà Nội từ </a:t>
            </a:r>
            <a:r>
              <a:rPr sz="1300" b="1">
                <a:solidFill>
                  <a:srgbClr val="8C0A1F"/>
                </a:solidFill>
                <a:latin typeface="Calibri"/>
              </a:rPr>
              <a:t>28/6 – 1/7/1996</a:t>
            </a:r>
            <a:r>
              <a:rPr sz="1300" b="0">
                <a:solidFill>
                  <a:srgbClr val="3A2A26"/>
                </a:solidFill>
                <a:latin typeface="Calibri"/>
              </a:rPr>
              <a:t>. Tham dự có </a:t>
            </a:r>
            <a:r>
              <a:rPr sz="1300" b="1">
                <a:solidFill>
                  <a:srgbClr val="8C0A1F"/>
                </a:solidFill>
                <a:latin typeface="Calibri"/>
              </a:rPr>
              <a:t>1.198 đại biểu</a:t>
            </a:r>
            <a:r>
              <a:rPr sz="1300" b="0">
                <a:solidFill>
                  <a:srgbClr val="3A2A26"/>
                </a:solidFill>
                <a:latin typeface="Calibri"/>
              </a:rPr>
              <a:t>, thay mặt hơn </a:t>
            </a:r>
            <a:r>
              <a:rPr sz="1300" b="1">
                <a:solidFill>
                  <a:srgbClr val="8C0A1F"/>
                </a:solidFill>
                <a:latin typeface="Calibri"/>
              </a:rPr>
              <a:t>2,1 triệu đảng viên</a:t>
            </a:r>
            <a:r>
              <a:rPr sz="1300" b="0">
                <a:solidFill>
                  <a:srgbClr val="3A2A26"/>
                </a:solidFill>
                <a:latin typeface="Calibri"/>
              </a:rPr>
              <a:t> cả nước. Đại hội thông qua các văn kiện chính trị quan trọng, bầu đồng chí </a:t>
            </a:r>
            <a:r>
              <a:rPr sz="1300" b="1">
                <a:solidFill>
                  <a:srgbClr val="8C0A1F"/>
                </a:solidFill>
                <a:latin typeface="Calibri"/>
              </a:rPr>
              <a:t>Đỗ Mười</a:t>
            </a:r>
            <a:r>
              <a:rPr sz="1300" b="0">
                <a:solidFill>
                  <a:srgbClr val="3A2A26"/>
                </a:solidFill>
                <a:latin typeface="Calibri"/>
              </a:rPr>
              <a:t> tiếp tục làm Tổng Bí thư.</a:t>
            </a:r>
          </a:p>
        </p:txBody>
      </p:sp>
      <p:sp>
        <p:nvSpPr>
          <p:cNvPr id="6" name="Rectangle 5"/>
          <p:cNvSpPr/>
          <p:nvPr/>
        </p:nvSpPr>
        <p:spPr>
          <a:xfrm>
            <a:off x="640080" y="2423160"/>
            <a:ext cx="50800" cy="141732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0880" y="2423160"/>
            <a:ext cx="10830560" cy="141732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514600"/>
            <a:ext cx="10515600" cy="1234440"/>
          </a:xfrm>
          <a:prstGeom prst="rect">
            <a:avLst/>
          </a:prstGeom>
          <a:noFill/>
        </p:spPr>
        <p:txBody>
          <a:bodyPr wrap="square" anchor="t" lIns="0" rIns="0" tIns="0" bIns="0">
            <a:spAutoFit/>
          </a:bodyPr>
          <a:lstStyle/>
          <a:p>
            <a:pPr algn="l">
              <a:lnSpc>
                <a:spcPct val="115000"/>
              </a:lnSpc>
              <a:spcAft>
                <a:spcPts val="400"/>
              </a:spcAft>
            </a:pPr>
            <a:r>
              <a:rPr sz="1400" b="1" i="0">
                <a:solidFill>
                  <a:srgbClr val="1A1210"/>
                </a:solidFill>
                <a:latin typeface="Georgia"/>
              </a:rPr>
              <a:t>Đánh giá 10 năm Đổi mới (từ Đại hội VI – 1986)</a:t>
            </a:r>
          </a:p>
          <a:p>
            <a:pPr>
              <a:lnSpc>
                <a:spcPct val="120000"/>
              </a:lnSpc>
            </a:pPr>
            <a:r>
              <a:rPr sz="1300" b="0">
                <a:solidFill>
                  <a:srgbClr val="3A2A26"/>
                </a:solidFill>
                <a:latin typeface="Calibri"/>
              </a:rPr>
              <a:t>Đất nước thu được </a:t>
            </a:r>
            <a:r>
              <a:rPr sz="1300" b="1">
                <a:solidFill>
                  <a:srgbClr val="8C0A1F"/>
                </a:solidFill>
                <a:latin typeface="Calibri"/>
              </a:rPr>
              <a:t>những thành tựu to lớn, có ý nghĩa rất quan trọng</a:t>
            </a:r>
            <a:r>
              <a:rPr sz="1300" b="0">
                <a:solidFill>
                  <a:srgbClr val="3A2A26"/>
                </a:solidFill>
                <a:latin typeface="Calibri"/>
              </a:rPr>
              <a:t>: đã </a:t>
            </a:r>
            <a:r>
              <a:rPr sz="1300" b="1">
                <a:solidFill>
                  <a:srgbClr val="8C0A1F"/>
                </a:solidFill>
                <a:latin typeface="Calibri"/>
              </a:rPr>
              <a:t>ra khỏi khủng hoảng kinh tế – xã hội</a:t>
            </a:r>
            <a:r>
              <a:rPr sz="1300" b="0">
                <a:solidFill>
                  <a:srgbClr val="3A2A26"/>
                </a:solidFill>
                <a:latin typeface="Calibri"/>
              </a:rPr>
              <a:t>, nhiệm vụ chuẩn bị tiền đề công nghiệp hóa của chặng đường đầu thời kỳ quá độ đã cơ bản hoàn thành. Tuy nhiên một số mặt còn </a:t>
            </a:r>
            <a:r>
              <a:rPr sz="1300" b="1">
                <a:solidFill>
                  <a:srgbClr val="8C0A1F"/>
                </a:solidFill>
                <a:latin typeface="Calibri"/>
              </a:rPr>
              <a:t>chưa vững chắc</a:t>
            </a:r>
            <a:r>
              <a:rPr sz="1300" b="0">
                <a:solidFill>
                  <a:srgbClr val="3A2A26"/>
                </a:solidFill>
                <a:latin typeface="Calibri"/>
              </a:rPr>
              <a:t>.</a:t>
            </a:r>
          </a:p>
        </p:txBody>
      </p:sp>
      <p:sp>
        <p:nvSpPr>
          <p:cNvPr id="9" name="Rectangle 8"/>
          <p:cNvSpPr/>
          <p:nvPr/>
        </p:nvSpPr>
        <p:spPr>
          <a:xfrm>
            <a:off x="640080" y="3977640"/>
            <a:ext cx="508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0880" y="3977640"/>
            <a:ext cx="10830560" cy="141732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069080"/>
            <a:ext cx="10515600" cy="1234440"/>
          </a:xfrm>
          <a:prstGeom prst="rect">
            <a:avLst/>
          </a:prstGeom>
          <a:noFill/>
        </p:spPr>
        <p:txBody>
          <a:bodyPr wrap="square" anchor="t" lIns="0" rIns="0" tIns="0" bIns="0">
            <a:spAutoFit/>
          </a:bodyPr>
          <a:lstStyle/>
          <a:p>
            <a:pPr algn="l">
              <a:lnSpc>
                <a:spcPct val="115000"/>
              </a:lnSpc>
              <a:spcAft>
                <a:spcPts val="400"/>
              </a:spcAft>
            </a:pPr>
            <a:r>
              <a:rPr sz="1400" b="1" i="0">
                <a:solidFill>
                  <a:srgbClr val="1A1210"/>
                </a:solidFill>
                <a:latin typeface="Georgia"/>
              </a:rPr>
              <a:t>Quyết định chiến lược: chuyển sang thời kỳ mới</a:t>
            </a:r>
          </a:p>
          <a:p>
            <a:pPr>
              <a:lnSpc>
                <a:spcPct val="120000"/>
              </a:lnSpc>
            </a:pPr>
            <a:r>
              <a:rPr sz="1300" b="0">
                <a:solidFill>
                  <a:srgbClr val="3A2A26"/>
                </a:solidFill>
                <a:latin typeface="Calibri"/>
              </a:rPr>
              <a:t>Khẳng định </a:t>
            </a:r>
            <a:r>
              <a:rPr sz="1300" b="1">
                <a:solidFill>
                  <a:srgbClr val="8C0A1F"/>
                </a:solidFill>
                <a:latin typeface="Calibri"/>
              </a:rPr>
              <a:t>con đường đi lên chủ nghĩa xã hội</a:t>
            </a:r>
            <a:r>
              <a:rPr sz="1300" b="0">
                <a:solidFill>
                  <a:srgbClr val="3A2A26"/>
                </a:solidFill>
                <a:latin typeface="Calibri"/>
              </a:rPr>
              <a:t> ngày càng được xác định rõ hơn — cho phép chuyển từ chuẩn bị tiền đề công nghiệp hóa (1986 – 1996) sang </a:t>
            </a:r>
            <a:r>
              <a:rPr sz="1300" b="1">
                <a:solidFill>
                  <a:srgbClr val="8C0A1F"/>
                </a:solidFill>
                <a:latin typeface="Calibri"/>
              </a:rPr>
              <a:t>đẩy mạnh công nghiệp hóa, hiện đại hóa đất nước</a:t>
            </a:r>
            <a:r>
              <a:rPr sz="1300" b="0">
                <a:solidFill>
                  <a:srgbClr val="3A2A26"/>
                </a:solidFill>
                <a:latin typeface="Calibri"/>
              </a:rPr>
              <a:t> (từ 1996).</a:t>
            </a:r>
          </a:p>
        </p:txBody>
      </p:sp>
      <p:sp>
        <p:nvSpPr>
          <p:cNvPr id="12" name="TextBox 11"/>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4/25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1.2 · SÁU BÀI HỌC CHỦ YẾU QUA 10 NĂM ĐỔI MỚI</a:t>
            </a:r>
          </a:p>
        </p:txBody>
      </p:sp>
      <p:sp>
        <p:nvSpPr>
          <p:cNvPr id="3" name="Rounded Rectangle 2"/>
          <p:cNvSpPr/>
          <p:nvPr/>
        </p:nvSpPr>
        <p:spPr>
          <a:xfrm>
            <a:off x="640080" y="1051560"/>
            <a:ext cx="3520440" cy="160020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672" y="1216152"/>
            <a:ext cx="365760" cy="365760"/>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216152"/>
            <a:ext cx="365760" cy="365760"/>
          </a:xfrm>
          <a:prstGeom prst="rect">
            <a:avLst/>
          </a:prstGeom>
          <a:noFill/>
        </p:spPr>
        <p:txBody>
          <a:bodyPr wrap="square" anchor="ctr" lIns="0" rIns="0" tIns="0" bIns="0">
            <a:spAutoFit/>
          </a:bodyPr>
          <a:lstStyle/>
          <a:p>
            <a:pPr algn="ctr">
              <a:lnSpc>
                <a:spcPct val="115000"/>
              </a:lnSpc>
              <a:spcAft>
                <a:spcPts val="0"/>
              </a:spcAft>
            </a:pPr>
            <a:r>
              <a:rPr sz="1400" b="1" i="0">
                <a:solidFill>
                  <a:srgbClr val="FFFFFF"/>
                </a:solidFill>
                <a:latin typeface="Calibri"/>
              </a:rPr>
              <a:t>1</a:t>
            </a:r>
          </a:p>
        </p:txBody>
      </p:sp>
      <p:sp>
        <p:nvSpPr>
          <p:cNvPr id="6" name="TextBox 5"/>
          <p:cNvSpPr txBox="1"/>
          <p:nvPr/>
        </p:nvSpPr>
        <p:spPr>
          <a:xfrm>
            <a:off x="1280160" y="1161288"/>
            <a:ext cx="2697480" cy="1380744"/>
          </a:xfrm>
          <a:prstGeom prst="rect">
            <a:avLst/>
          </a:prstGeom>
          <a:noFill/>
        </p:spPr>
        <p:txBody>
          <a:bodyPr wrap="square" anchor="t" lIns="0" rIns="0" tIns="0" bIns="0">
            <a:spAutoFit/>
          </a:bodyPr>
          <a:lstStyle/>
          <a:p>
            <a:pPr algn="l">
              <a:lnSpc>
                <a:spcPct val="120000"/>
              </a:lnSpc>
              <a:spcAft>
                <a:spcPts val="0"/>
              </a:spcAft>
            </a:pPr>
            <a:r>
              <a:rPr sz="1050" b="0" i="0">
                <a:solidFill>
                  <a:srgbClr val="3A2A26"/>
                </a:solidFill>
                <a:latin typeface="Calibri"/>
              </a:rPr>
              <a:t>Giữ vững mục tiêu độc lập dân tộc và chủ nghĩa xã hội trong quá trình đổi mới; nắm vững hai nhiệm vụ chiến lược xây dựng và bảo vệ Tổ quốc, kiên trì chủ nghĩa Mác – Lênin và tư tưởng Hồ Chí Minh.</a:t>
            </a:r>
          </a:p>
        </p:txBody>
      </p:sp>
      <p:sp>
        <p:nvSpPr>
          <p:cNvPr id="7" name="Rounded Rectangle 6"/>
          <p:cNvSpPr/>
          <p:nvPr/>
        </p:nvSpPr>
        <p:spPr>
          <a:xfrm>
            <a:off x="4480560" y="1051560"/>
            <a:ext cx="3520440" cy="160020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45152" y="1216152"/>
            <a:ext cx="365760" cy="365760"/>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5152" y="1216152"/>
            <a:ext cx="365760" cy="365760"/>
          </a:xfrm>
          <a:prstGeom prst="rect">
            <a:avLst/>
          </a:prstGeom>
          <a:noFill/>
        </p:spPr>
        <p:txBody>
          <a:bodyPr wrap="square" anchor="ctr" lIns="0" rIns="0" tIns="0" bIns="0">
            <a:spAutoFit/>
          </a:bodyPr>
          <a:lstStyle/>
          <a:p>
            <a:pPr algn="ctr">
              <a:lnSpc>
                <a:spcPct val="115000"/>
              </a:lnSpc>
              <a:spcAft>
                <a:spcPts val="0"/>
              </a:spcAft>
            </a:pPr>
            <a:r>
              <a:rPr sz="1400" b="1" i="0">
                <a:solidFill>
                  <a:srgbClr val="FFFFFF"/>
                </a:solidFill>
                <a:latin typeface="Calibri"/>
              </a:rPr>
              <a:t>2</a:t>
            </a:r>
          </a:p>
        </p:txBody>
      </p:sp>
      <p:sp>
        <p:nvSpPr>
          <p:cNvPr id="10" name="TextBox 9"/>
          <p:cNvSpPr txBox="1"/>
          <p:nvPr/>
        </p:nvSpPr>
        <p:spPr>
          <a:xfrm>
            <a:off x="5120640" y="1161288"/>
            <a:ext cx="2697480" cy="1380744"/>
          </a:xfrm>
          <a:prstGeom prst="rect">
            <a:avLst/>
          </a:prstGeom>
          <a:noFill/>
        </p:spPr>
        <p:txBody>
          <a:bodyPr wrap="square" anchor="t" lIns="0" rIns="0" tIns="0" bIns="0">
            <a:spAutoFit/>
          </a:bodyPr>
          <a:lstStyle/>
          <a:p>
            <a:pPr algn="l">
              <a:lnSpc>
                <a:spcPct val="120000"/>
              </a:lnSpc>
              <a:spcAft>
                <a:spcPts val="0"/>
              </a:spcAft>
            </a:pPr>
            <a:r>
              <a:rPr sz="1050" b="0" i="0">
                <a:solidFill>
                  <a:srgbClr val="3A2A26"/>
                </a:solidFill>
                <a:latin typeface="Calibri"/>
              </a:rPr>
              <a:t>Kết hợp chặt chẽ ngay từ đầu đổi mới kinh tế với đổi mới chính trị, lấy đổi mới kinh tế làm trọng tâm, đồng thời từng bước đổi mới chính trị.</a:t>
            </a:r>
          </a:p>
        </p:txBody>
      </p:sp>
      <p:sp>
        <p:nvSpPr>
          <p:cNvPr id="11" name="Rounded Rectangle 10"/>
          <p:cNvSpPr/>
          <p:nvPr/>
        </p:nvSpPr>
        <p:spPr>
          <a:xfrm>
            <a:off x="8321040" y="1051560"/>
            <a:ext cx="3520440" cy="160020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485632" y="1216152"/>
            <a:ext cx="365760" cy="365760"/>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85632" y="1216152"/>
            <a:ext cx="365760" cy="365760"/>
          </a:xfrm>
          <a:prstGeom prst="rect">
            <a:avLst/>
          </a:prstGeom>
          <a:noFill/>
        </p:spPr>
        <p:txBody>
          <a:bodyPr wrap="square" anchor="ctr" lIns="0" rIns="0" tIns="0" bIns="0">
            <a:spAutoFit/>
          </a:bodyPr>
          <a:lstStyle/>
          <a:p>
            <a:pPr algn="ctr">
              <a:lnSpc>
                <a:spcPct val="115000"/>
              </a:lnSpc>
              <a:spcAft>
                <a:spcPts val="0"/>
              </a:spcAft>
            </a:pPr>
            <a:r>
              <a:rPr sz="1400" b="1" i="0">
                <a:solidFill>
                  <a:srgbClr val="FFFFFF"/>
                </a:solidFill>
                <a:latin typeface="Calibri"/>
              </a:rPr>
              <a:t>3</a:t>
            </a:r>
          </a:p>
        </p:txBody>
      </p:sp>
      <p:sp>
        <p:nvSpPr>
          <p:cNvPr id="14" name="TextBox 13"/>
          <p:cNvSpPr txBox="1"/>
          <p:nvPr/>
        </p:nvSpPr>
        <p:spPr>
          <a:xfrm>
            <a:off x="8961120" y="1161288"/>
            <a:ext cx="2697480" cy="1380744"/>
          </a:xfrm>
          <a:prstGeom prst="rect">
            <a:avLst/>
          </a:prstGeom>
          <a:noFill/>
        </p:spPr>
        <p:txBody>
          <a:bodyPr wrap="square" anchor="t" lIns="0" rIns="0" tIns="0" bIns="0">
            <a:spAutoFit/>
          </a:bodyPr>
          <a:lstStyle/>
          <a:p>
            <a:pPr algn="l">
              <a:lnSpc>
                <a:spcPct val="120000"/>
              </a:lnSpc>
              <a:spcAft>
                <a:spcPts val="0"/>
              </a:spcAft>
            </a:pPr>
            <a:r>
              <a:rPr sz="1050" b="0" i="0">
                <a:solidFill>
                  <a:srgbClr val="3A2A26"/>
                </a:solidFill>
                <a:latin typeface="Calibri"/>
              </a:rPr>
              <a:t>Xây dựng nền kinh tế hàng hóa nhiều thành phần, vận hành theo cơ chế thị trường, đi đôi với tăng cường vai trò quản lý của Nhà nước theo định hướng xã hội chủ nghĩa.</a:t>
            </a:r>
          </a:p>
        </p:txBody>
      </p:sp>
      <p:sp>
        <p:nvSpPr>
          <p:cNvPr id="15" name="Rounded Rectangle 14"/>
          <p:cNvSpPr/>
          <p:nvPr/>
        </p:nvSpPr>
        <p:spPr>
          <a:xfrm>
            <a:off x="640080" y="2880360"/>
            <a:ext cx="3520440" cy="160020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3044952"/>
            <a:ext cx="365760" cy="365760"/>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044952"/>
            <a:ext cx="365760" cy="365760"/>
          </a:xfrm>
          <a:prstGeom prst="rect">
            <a:avLst/>
          </a:prstGeom>
          <a:noFill/>
        </p:spPr>
        <p:txBody>
          <a:bodyPr wrap="square" anchor="ctr" lIns="0" rIns="0" tIns="0" bIns="0">
            <a:spAutoFit/>
          </a:bodyPr>
          <a:lstStyle/>
          <a:p>
            <a:pPr algn="ctr">
              <a:lnSpc>
                <a:spcPct val="115000"/>
              </a:lnSpc>
              <a:spcAft>
                <a:spcPts val="0"/>
              </a:spcAft>
            </a:pPr>
            <a:r>
              <a:rPr sz="1400" b="1" i="0">
                <a:solidFill>
                  <a:srgbClr val="FFFFFF"/>
                </a:solidFill>
                <a:latin typeface="Calibri"/>
              </a:rPr>
              <a:t>4</a:t>
            </a:r>
          </a:p>
        </p:txBody>
      </p:sp>
      <p:sp>
        <p:nvSpPr>
          <p:cNvPr id="18" name="TextBox 17"/>
          <p:cNvSpPr txBox="1"/>
          <p:nvPr/>
        </p:nvSpPr>
        <p:spPr>
          <a:xfrm>
            <a:off x="1280160" y="2990088"/>
            <a:ext cx="2697480" cy="1380744"/>
          </a:xfrm>
          <a:prstGeom prst="rect">
            <a:avLst/>
          </a:prstGeom>
          <a:noFill/>
        </p:spPr>
        <p:txBody>
          <a:bodyPr wrap="square" anchor="t" lIns="0" rIns="0" tIns="0" bIns="0">
            <a:spAutoFit/>
          </a:bodyPr>
          <a:lstStyle/>
          <a:p>
            <a:pPr algn="l">
              <a:lnSpc>
                <a:spcPct val="120000"/>
              </a:lnSpc>
              <a:spcAft>
                <a:spcPts val="0"/>
              </a:spcAft>
            </a:pPr>
            <a:r>
              <a:rPr sz="1050" b="0" i="0">
                <a:solidFill>
                  <a:srgbClr val="3A2A26"/>
                </a:solidFill>
                <a:latin typeface="Calibri"/>
              </a:rPr>
              <a:t>Mở rộng và tăng cường khối đại đoàn kết toàn dân, phát huy sức mạnh của cả dân tộc.</a:t>
            </a:r>
          </a:p>
        </p:txBody>
      </p:sp>
      <p:sp>
        <p:nvSpPr>
          <p:cNvPr id="19" name="Rounded Rectangle 18"/>
          <p:cNvSpPr/>
          <p:nvPr/>
        </p:nvSpPr>
        <p:spPr>
          <a:xfrm>
            <a:off x="4480560" y="2880360"/>
            <a:ext cx="3520440" cy="160020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645152" y="3044952"/>
            <a:ext cx="365760" cy="365760"/>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45152" y="3044952"/>
            <a:ext cx="365760" cy="365760"/>
          </a:xfrm>
          <a:prstGeom prst="rect">
            <a:avLst/>
          </a:prstGeom>
          <a:noFill/>
        </p:spPr>
        <p:txBody>
          <a:bodyPr wrap="square" anchor="ctr" lIns="0" rIns="0" tIns="0" bIns="0">
            <a:spAutoFit/>
          </a:bodyPr>
          <a:lstStyle/>
          <a:p>
            <a:pPr algn="ctr">
              <a:lnSpc>
                <a:spcPct val="115000"/>
              </a:lnSpc>
              <a:spcAft>
                <a:spcPts val="0"/>
              </a:spcAft>
            </a:pPr>
            <a:r>
              <a:rPr sz="1400" b="1" i="0">
                <a:solidFill>
                  <a:srgbClr val="FFFFFF"/>
                </a:solidFill>
                <a:latin typeface="Calibri"/>
              </a:rPr>
              <a:t>5</a:t>
            </a:r>
          </a:p>
        </p:txBody>
      </p:sp>
      <p:sp>
        <p:nvSpPr>
          <p:cNvPr id="22" name="TextBox 21"/>
          <p:cNvSpPr txBox="1"/>
          <p:nvPr/>
        </p:nvSpPr>
        <p:spPr>
          <a:xfrm>
            <a:off x="5120640" y="2990088"/>
            <a:ext cx="2697480" cy="1380744"/>
          </a:xfrm>
          <a:prstGeom prst="rect">
            <a:avLst/>
          </a:prstGeom>
          <a:noFill/>
        </p:spPr>
        <p:txBody>
          <a:bodyPr wrap="square" anchor="t" lIns="0" rIns="0" tIns="0" bIns="0">
            <a:spAutoFit/>
          </a:bodyPr>
          <a:lstStyle/>
          <a:p>
            <a:pPr algn="l">
              <a:lnSpc>
                <a:spcPct val="120000"/>
              </a:lnSpc>
              <a:spcAft>
                <a:spcPts val="0"/>
              </a:spcAft>
            </a:pPr>
            <a:r>
              <a:rPr sz="1050" b="0" i="0">
                <a:solidFill>
                  <a:srgbClr val="3A2A26"/>
                </a:solidFill>
                <a:latin typeface="Calibri"/>
              </a:rPr>
              <a:t>Mở rộng hợp tác quốc tế, tranh thủ sự đồng tình, ủng hộ và giúp đỡ của nhân dân thế giới, kết hợp sức mạnh của dân tộc với sức mạnh thời đại.</a:t>
            </a:r>
          </a:p>
        </p:txBody>
      </p:sp>
      <p:sp>
        <p:nvSpPr>
          <p:cNvPr id="23" name="Rounded Rectangle 22"/>
          <p:cNvSpPr/>
          <p:nvPr/>
        </p:nvSpPr>
        <p:spPr>
          <a:xfrm>
            <a:off x="8321040" y="2880360"/>
            <a:ext cx="3520440" cy="160020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485632" y="3044952"/>
            <a:ext cx="365760" cy="365760"/>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85632" y="3044952"/>
            <a:ext cx="365760" cy="365760"/>
          </a:xfrm>
          <a:prstGeom prst="rect">
            <a:avLst/>
          </a:prstGeom>
          <a:noFill/>
        </p:spPr>
        <p:txBody>
          <a:bodyPr wrap="square" anchor="ctr" lIns="0" rIns="0" tIns="0" bIns="0">
            <a:spAutoFit/>
          </a:bodyPr>
          <a:lstStyle/>
          <a:p>
            <a:pPr algn="ctr">
              <a:lnSpc>
                <a:spcPct val="115000"/>
              </a:lnSpc>
              <a:spcAft>
                <a:spcPts val="0"/>
              </a:spcAft>
            </a:pPr>
            <a:r>
              <a:rPr sz="1400" b="1" i="0">
                <a:solidFill>
                  <a:srgbClr val="FFFFFF"/>
                </a:solidFill>
                <a:latin typeface="Calibri"/>
              </a:rPr>
              <a:t>6</a:t>
            </a:r>
          </a:p>
        </p:txBody>
      </p:sp>
      <p:sp>
        <p:nvSpPr>
          <p:cNvPr id="26" name="TextBox 25"/>
          <p:cNvSpPr txBox="1"/>
          <p:nvPr/>
        </p:nvSpPr>
        <p:spPr>
          <a:xfrm>
            <a:off x="8961120" y="2990088"/>
            <a:ext cx="2697480" cy="1380744"/>
          </a:xfrm>
          <a:prstGeom prst="rect">
            <a:avLst/>
          </a:prstGeom>
          <a:noFill/>
        </p:spPr>
        <p:txBody>
          <a:bodyPr wrap="square" anchor="t" lIns="0" rIns="0" tIns="0" bIns="0">
            <a:spAutoFit/>
          </a:bodyPr>
          <a:lstStyle/>
          <a:p>
            <a:pPr algn="l">
              <a:lnSpc>
                <a:spcPct val="120000"/>
              </a:lnSpc>
              <a:spcAft>
                <a:spcPts val="0"/>
              </a:spcAft>
            </a:pPr>
            <a:r>
              <a:rPr sz="1050" b="0" i="0">
                <a:solidFill>
                  <a:srgbClr val="3A2A26"/>
                </a:solidFill>
                <a:latin typeface="Calibri"/>
              </a:rPr>
              <a:t>Tăng cường vai trò lãnh đạo của Đảng, coi xây dựng Đảng là nhiệm vụ then chốt.</a:t>
            </a:r>
          </a:p>
        </p:txBody>
      </p:sp>
      <p:sp>
        <p:nvSpPr>
          <p:cNvPr id="27" name="TextBox 26"/>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5/25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1.2 · SÁU QUAN ĐIỂM CỦA ĐẢNG VỀ CNH, HĐH</a:t>
            </a:r>
          </a:p>
        </p:txBody>
      </p:sp>
      <p:sp>
        <p:nvSpPr>
          <p:cNvPr id="3" name="Rounded Rectangle 2"/>
          <p:cNvSpPr/>
          <p:nvPr/>
        </p:nvSpPr>
        <p:spPr>
          <a:xfrm>
            <a:off x="640080" y="1051560"/>
            <a:ext cx="3520440" cy="160020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672" y="1216152"/>
            <a:ext cx="365760" cy="365760"/>
          </a:xfrm>
          <a:prstGeom prst="roundRect">
            <a:avLst>
              <a:gd name="adj" fmla="val 50000"/>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216152"/>
            <a:ext cx="365760" cy="365760"/>
          </a:xfrm>
          <a:prstGeom prst="rect">
            <a:avLst/>
          </a:prstGeom>
          <a:noFill/>
        </p:spPr>
        <p:txBody>
          <a:bodyPr wrap="square" anchor="ctr" lIns="0" rIns="0" tIns="0" bIns="0">
            <a:spAutoFit/>
          </a:bodyPr>
          <a:lstStyle/>
          <a:p>
            <a:pPr algn="ctr">
              <a:lnSpc>
                <a:spcPct val="115000"/>
              </a:lnSpc>
              <a:spcAft>
                <a:spcPts val="0"/>
              </a:spcAft>
            </a:pPr>
            <a:r>
              <a:rPr sz="1400" b="1" i="0">
                <a:solidFill>
                  <a:srgbClr val="4A0712"/>
                </a:solidFill>
                <a:latin typeface="Calibri"/>
              </a:rPr>
              <a:t>1</a:t>
            </a:r>
          </a:p>
        </p:txBody>
      </p:sp>
      <p:sp>
        <p:nvSpPr>
          <p:cNvPr id="6" name="TextBox 5"/>
          <p:cNvSpPr txBox="1"/>
          <p:nvPr/>
        </p:nvSpPr>
        <p:spPr>
          <a:xfrm>
            <a:off x="1280160" y="1161288"/>
            <a:ext cx="2697480" cy="1380744"/>
          </a:xfrm>
          <a:prstGeom prst="rect">
            <a:avLst/>
          </a:prstGeom>
          <a:noFill/>
        </p:spPr>
        <p:txBody>
          <a:bodyPr wrap="square" anchor="t" lIns="0" rIns="0" tIns="0" bIns="0">
            <a:spAutoFit/>
          </a:bodyPr>
          <a:lstStyle/>
          <a:p>
            <a:pPr algn="l">
              <a:lnSpc>
                <a:spcPct val="120000"/>
              </a:lnSpc>
              <a:spcAft>
                <a:spcPts val="0"/>
              </a:spcAft>
            </a:pPr>
            <a:r>
              <a:rPr sz="1050" b="0" i="0">
                <a:solidFill>
                  <a:srgbClr val="3A2A26"/>
                </a:solidFill>
                <a:latin typeface="Calibri"/>
              </a:rPr>
              <a:t>Giữ vững độc lập, tự chủ, đi đôi với mở rộng hợp tác quốc tế, đa phương hóa, đa dạng hóa quan hệ đối ngoại. Dựa vào nguồn lực trong nước là chính, đi đôi với tranh thủ tối đa nguồn lực bên ngoài.</a:t>
            </a:r>
          </a:p>
        </p:txBody>
      </p:sp>
      <p:sp>
        <p:nvSpPr>
          <p:cNvPr id="7" name="Rounded Rectangle 6"/>
          <p:cNvSpPr/>
          <p:nvPr/>
        </p:nvSpPr>
        <p:spPr>
          <a:xfrm>
            <a:off x="4480560" y="1051560"/>
            <a:ext cx="3520440" cy="160020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45152" y="1216152"/>
            <a:ext cx="365760" cy="365760"/>
          </a:xfrm>
          <a:prstGeom prst="roundRect">
            <a:avLst>
              <a:gd name="adj" fmla="val 50000"/>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5152" y="1216152"/>
            <a:ext cx="365760" cy="365760"/>
          </a:xfrm>
          <a:prstGeom prst="rect">
            <a:avLst/>
          </a:prstGeom>
          <a:noFill/>
        </p:spPr>
        <p:txBody>
          <a:bodyPr wrap="square" anchor="ctr" lIns="0" rIns="0" tIns="0" bIns="0">
            <a:spAutoFit/>
          </a:bodyPr>
          <a:lstStyle/>
          <a:p>
            <a:pPr algn="ctr">
              <a:lnSpc>
                <a:spcPct val="115000"/>
              </a:lnSpc>
              <a:spcAft>
                <a:spcPts val="0"/>
              </a:spcAft>
            </a:pPr>
            <a:r>
              <a:rPr sz="1400" b="1" i="0">
                <a:solidFill>
                  <a:srgbClr val="4A0712"/>
                </a:solidFill>
                <a:latin typeface="Calibri"/>
              </a:rPr>
              <a:t>2</a:t>
            </a:r>
          </a:p>
        </p:txBody>
      </p:sp>
      <p:sp>
        <p:nvSpPr>
          <p:cNvPr id="10" name="TextBox 9"/>
          <p:cNvSpPr txBox="1"/>
          <p:nvPr/>
        </p:nvSpPr>
        <p:spPr>
          <a:xfrm>
            <a:off x="5120640" y="1161288"/>
            <a:ext cx="2697480" cy="1380744"/>
          </a:xfrm>
          <a:prstGeom prst="rect">
            <a:avLst/>
          </a:prstGeom>
          <a:noFill/>
        </p:spPr>
        <p:txBody>
          <a:bodyPr wrap="square" anchor="t" lIns="0" rIns="0" tIns="0" bIns="0">
            <a:spAutoFit/>
          </a:bodyPr>
          <a:lstStyle/>
          <a:p>
            <a:pPr algn="l">
              <a:lnSpc>
                <a:spcPct val="120000"/>
              </a:lnSpc>
              <a:spcAft>
                <a:spcPts val="0"/>
              </a:spcAft>
            </a:pPr>
            <a:r>
              <a:rPr sz="1050" b="0" i="0">
                <a:solidFill>
                  <a:srgbClr val="3A2A26"/>
                </a:solidFill>
                <a:latin typeface="Calibri"/>
              </a:rPr>
              <a:t>CNH, HĐH là sự nghiệp của toàn dân, của mọi thành phần kinh tế, trong đó kinh tế nhà nước giữ vai trò chủ đạo.</a:t>
            </a:r>
          </a:p>
        </p:txBody>
      </p:sp>
      <p:sp>
        <p:nvSpPr>
          <p:cNvPr id="11" name="Rounded Rectangle 10"/>
          <p:cNvSpPr/>
          <p:nvPr/>
        </p:nvSpPr>
        <p:spPr>
          <a:xfrm>
            <a:off x="8321040" y="1051560"/>
            <a:ext cx="3520440" cy="160020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485632" y="1216152"/>
            <a:ext cx="365760" cy="365760"/>
          </a:xfrm>
          <a:prstGeom prst="roundRect">
            <a:avLst>
              <a:gd name="adj" fmla="val 50000"/>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85632" y="1216152"/>
            <a:ext cx="365760" cy="365760"/>
          </a:xfrm>
          <a:prstGeom prst="rect">
            <a:avLst/>
          </a:prstGeom>
          <a:noFill/>
        </p:spPr>
        <p:txBody>
          <a:bodyPr wrap="square" anchor="ctr" lIns="0" rIns="0" tIns="0" bIns="0">
            <a:spAutoFit/>
          </a:bodyPr>
          <a:lstStyle/>
          <a:p>
            <a:pPr algn="ctr">
              <a:lnSpc>
                <a:spcPct val="115000"/>
              </a:lnSpc>
              <a:spcAft>
                <a:spcPts val="0"/>
              </a:spcAft>
            </a:pPr>
            <a:r>
              <a:rPr sz="1400" b="1" i="0">
                <a:solidFill>
                  <a:srgbClr val="4A0712"/>
                </a:solidFill>
                <a:latin typeface="Calibri"/>
              </a:rPr>
              <a:t>3</a:t>
            </a:r>
          </a:p>
        </p:txBody>
      </p:sp>
      <p:sp>
        <p:nvSpPr>
          <p:cNvPr id="14" name="TextBox 13"/>
          <p:cNvSpPr txBox="1"/>
          <p:nvPr/>
        </p:nvSpPr>
        <p:spPr>
          <a:xfrm>
            <a:off x="8961120" y="1161288"/>
            <a:ext cx="2697480" cy="1380744"/>
          </a:xfrm>
          <a:prstGeom prst="rect">
            <a:avLst/>
          </a:prstGeom>
          <a:noFill/>
        </p:spPr>
        <p:txBody>
          <a:bodyPr wrap="square" anchor="t" lIns="0" rIns="0" tIns="0" bIns="0">
            <a:spAutoFit/>
          </a:bodyPr>
          <a:lstStyle/>
          <a:p>
            <a:pPr algn="l">
              <a:lnSpc>
                <a:spcPct val="120000"/>
              </a:lnSpc>
              <a:spcAft>
                <a:spcPts val="0"/>
              </a:spcAft>
            </a:pPr>
            <a:r>
              <a:rPr sz="1050" b="0" i="0">
                <a:solidFill>
                  <a:srgbClr val="3A2A26"/>
                </a:solidFill>
                <a:latin typeface="Calibri"/>
              </a:rPr>
              <a:t>Lấy việc phát huy nguồn lực con người làm yếu tố cơ bản cho sự phát triển nhanh và bền vững.</a:t>
            </a:r>
          </a:p>
        </p:txBody>
      </p:sp>
      <p:sp>
        <p:nvSpPr>
          <p:cNvPr id="15" name="Rounded Rectangle 14"/>
          <p:cNvSpPr/>
          <p:nvPr/>
        </p:nvSpPr>
        <p:spPr>
          <a:xfrm>
            <a:off x="640080" y="2880360"/>
            <a:ext cx="3520440" cy="160020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3044952"/>
            <a:ext cx="365760" cy="365760"/>
          </a:xfrm>
          <a:prstGeom prst="roundRect">
            <a:avLst>
              <a:gd name="adj" fmla="val 50000"/>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044952"/>
            <a:ext cx="365760" cy="365760"/>
          </a:xfrm>
          <a:prstGeom prst="rect">
            <a:avLst/>
          </a:prstGeom>
          <a:noFill/>
        </p:spPr>
        <p:txBody>
          <a:bodyPr wrap="square" anchor="ctr" lIns="0" rIns="0" tIns="0" bIns="0">
            <a:spAutoFit/>
          </a:bodyPr>
          <a:lstStyle/>
          <a:p>
            <a:pPr algn="ctr">
              <a:lnSpc>
                <a:spcPct val="115000"/>
              </a:lnSpc>
              <a:spcAft>
                <a:spcPts val="0"/>
              </a:spcAft>
            </a:pPr>
            <a:r>
              <a:rPr sz="1400" b="1" i="0">
                <a:solidFill>
                  <a:srgbClr val="4A0712"/>
                </a:solidFill>
                <a:latin typeface="Calibri"/>
              </a:rPr>
              <a:t>4</a:t>
            </a:r>
          </a:p>
        </p:txBody>
      </p:sp>
      <p:sp>
        <p:nvSpPr>
          <p:cNvPr id="18" name="TextBox 17"/>
          <p:cNvSpPr txBox="1"/>
          <p:nvPr/>
        </p:nvSpPr>
        <p:spPr>
          <a:xfrm>
            <a:off x="1280160" y="2990088"/>
            <a:ext cx="2697480" cy="1380744"/>
          </a:xfrm>
          <a:prstGeom prst="rect">
            <a:avLst/>
          </a:prstGeom>
          <a:noFill/>
        </p:spPr>
        <p:txBody>
          <a:bodyPr wrap="square" anchor="t" lIns="0" rIns="0" tIns="0" bIns="0">
            <a:spAutoFit/>
          </a:bodyPr>
          <a:lstStyle/>
          <a:p>
            <a:pPr algn="l">
              <a:lnSpc>
                <a:spcPct val="120000"/>
              </a:lnSpc>
              <a:spcAft>
                <a:spcPts val="0"/>
              </a:spcAft>
            </a:pPr>
            <a:r>
              <a:rPr sz="1050" b="0" i="0">
                <a:solidFill>
                  <a:srgbClr val="3A2A26"/>
                </a:solidFill>
                <a:latin typeface="Calibri"/>
              </a:rPr>
              <a:t>Khoa học và công nghệ là động lực của CNH, HĐH; kết hợp công nghệ truyền thống với công nghệ hiện đại, tranh thủ đi nhanh vào hiện đại ở những khâu quyết định.</a:t>
            </a:r>
          </a:p>
        </p:txBody>
      </p:sp>
      <p:sp>
        <p:nvSpPr>
          <p:cNvPr id="19" name="Rounded Rectangle 18"/>
          <p:cNvSpPr/>
          <p:nvPr/>
        </p:nvSpPr>
        <p:spPr>
          <a:xfrm>
            <a:off x="4480560" y="2880360"/>
            <a:ext cx="3520440" cy="160020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645152" y="3044952"/>
            <a:ext cx="365760" cy="365760"/>
          </a:xfrm>
          <a:prstGeom prst="roundRect">
            <a:avLst>
              <a:gd name="adj" fmla="val 50000"/>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45152" y="3044952"/>
            <a:ext cx="365760" cy="365760"/>
          </a:xfrm>
          <a:prstGeom prst="rect">
            <a:avLst/>
          </a:prstGeom>
          <a:noFill/>
        </p:spPr>
        <p:txBody>
          <a:bodyPr wrap="square" anchor="ctr" lIns="0" rIns="0" tIns="0" bIns="0">
            <a:spAutoFit/>
          </a:bodyPr>
          <a:lstStyle/>
          <a:p>
            <a:pPr algn="ctr">
              <a:lnSpc>
                <a:spcPct val="115000"/>
              </a:lnSpc>
              <a:spcAft>
                <a:spcPts val="0"/>
              </a:spcAft>
            </a:pPr>
            <a:r>
              <a:rPr sz="1400" b="1" i="0">
                <a:solidFill>
                  <a:srgbClr val="4A0712"/>
                </a:solidFill>
                <a:latin typeface="Calibri"/>
              </a:rPr>
              <a:t>5</a:t>
            </a:r>
          </a:p>
        </p:txBody>
      </p:sp>
      <p:sp>
        <p:nvSpPr>
          <p:cNvPr id="22" name="TextBox 21"/>
          <p:cNvSpPr txBox="1"/>
          <p:nvPr/>
        </p:nvSpPr>
        <p:spPr>
          <a:xfrm>
            <a:off x="5120640" y="2990088"/>
            <a:ext cx="2697480" cy="1380744"/>
          </a:xfrm>
          <a:prstGeom prst="rect">
            <a:avLst/>
          </a:prstGeom>
          <a:noFill/>
        </p:spPr>
        <p:txBody>
          <a:bodyPr wrap="square" anchor="t" lIns="0" rIns="0" tIns="0" bIns="0">
            <a:spAutoFit/>
          </a:bodyPr>
          <a:lstStyle/>
          <a:p>
            <a:pPr algn="l">
              <a:lnSpc>
                <a:spcPct val="120000"/>
              </a:lnSpc>
              <a:spcAft>
                <a:spcPts val="0"/>
              </a:spcAft>
            </a:pPr>
            <a:r>
              <a:rPr sz="1050" b="0" i="0">
                <a:solidFill>
                  <a:srgbClr val="3A2A26"/>
                </a:solidFill>
                <a:latin typeface="Calibri"/>
              </a:rPr>
              <a:t>Lấy hiệu quả kinh tế – xã hội làm tiêu chuẩn cơ bản để xác định phương án phát triển, lựa chọn dự án đầu tư và công nghệ.</a:t>
            </a:r>
          </a:p>
        </p:txBody>
      </p:sp>
      <p:sp>
        <p:nvSpPr>
          <p:cNvPr id="23" name="Rounded Rectangle 22"/>
          <p:cNvSpPr/>
          <p:nvPr/>
        </p:nvSpPr>
        <p:spPr>
          <a:xfrm>
            <a:off x="8321040" y="2880360"/>
            <a:ext cx="3520440" cy="160020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485632" y="3044952"/>
            <a:ext cx="365760" cy="365760"/>
          </a:xfrm>
          <a:prstGeom prst="roundRect">
            <a:avLst>
              <a:gd name="adj" fmla="val 50000"/>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85632" y="3044952"/>
            <a:ext cx="365760" cy="365760"/>
          </a:xfrm>
          <a:prstGeom prst="rect">
            <a:avLst/>
          </a:prstGeom>
          <a:noFill/>
        </p:spPr>
        <p:txBody>
          <a:bodyPr wrap="square" anchor="ctr" lIns="0" rIns="0" tIns="0" bIns="0">
            <a:spAutoFit/>
          </a:bodyPr>
          <a:lstStyle/>
          <a:p>
            <a:pPr algn="ctr">
              <a:lnSpc>
                <a:spcPct val="115000"/>
              </a:lnSpc>
              <a:spcAft>
                <a:spcPts val="0"/>
              </a:spcAft>
            </a:pPr>
            <a:r>
              <a:rPr sz="1400" b="1" i="0">
                <a:solidFill>
                  <a:srgbClr val="4A0712"/>
                </a:solidFill>
                <a:latin typeface="Calibri"/>
              </a:rPr>
              <a:t>6</a:t>
            </a:r>
          </a:p>
        </p:txBody>
      </p:sp>
      <p:sp>
        <p:nvSpPr>
          <p:cNvPr id="26" name="TextBox 25"/>
          <p:cNvSpPr txBox="1"/>
          <p:nvPr/>
        </p:nvSpPr>
        <p:spPr>
          <a:xfrm>
            <a:off x="8961120" y="2990088"/>
            <a:ext cx="2697480" cy="1380744"/>
          </a:xfrm>
          <a:prstGeom prst="rect">
            <a:avLst/>
          </a:prstGeom>
          <a:noFill/>
        </p:spPr>
        <p:txBody>
          <a:bodyPr wrap="square" anchor="t" lIns="0" rIns="0" tIns="0" bIns="0">
            <a:spAutoFit/>
          </a:bodyPr>
          <a:lstStyle/>
          <a:p>
            <a:pPr algn="l">
              <a:lnSpc>
                <a:spcPct val="120000"/>
              </a:lnSpc>
              <a:spcAft>
                <a:spcPts val="0"/>
              </a:spcAft>
            </a:pPr>
            <a:r>
              <a:rPr sz="1050" b="0" i="0">
                <a:solidFill>
                  <a:srgbClr val="3A2A26"/>
                </a:solidFill>
                <a:latin typeface="Calibri"/>
              </a:rPr>
              <a:t>Kết hợp kinh tế với quốc phòng và an ninh.</a:t>
            </a:r>
          </a:p>
        </p:txBody>
      </p:sp>
      <p:sp>
        <p:nvSpPr>
          <p:cNvPr id="27" name="TextBox 26"/>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6/25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1.3 · CỤ THỂ HÓA ĐƯỜNG LỐI QUA CÁC HỘI NGHỊ TRUNG ƯƠNG KHÓA VIII (1996 – 2000)</a:t>
            </a:r>
          </a:p>
        </p:txBody>
      </p:sp>
      <p:sp>
        <p:nvSpPr>
          <p:cNvPr id="3" name="TextBox 2"/>
          <p:cNvSpPr txBox="1"/>
          <p:nvPr/>
        </p:nvSpPr>
        <p:spPr>
          <a:xfrm>
            <a:off x="640080" y="1005840"/>
            <a:ext cx="10881360" cy="457200"/>
          </a:xfrm>
          <a:prstGeom prst="rect">
            <a:avLst/>
          </a:prstGeom>
          <a:noFill/>
        </p:spPr>
        <p:txBody>
          <a:bodyPr wrap="square" anchor="t" lIns="0" rIns="0" tIns="0" bIns="0">
            <a:spAutoFit/>
          </a:bodyPr>
          <a:lstStyle/>
          <a:p>
            <a:pPr algn="l">
              <a:lnSpc>
                <a:spcPct val="115000"/>
              </a:lnSpc>
              <a:spcAft>
                <a:spcPts val="0"/>
              </a:spcAft>
            </a:pPr>
            <a:r>
              <a:rPr sz="1350" b="0" i="0">
                <a:solidFill>
                  <a:srgbClr val="3A2A26"/>
                </a:solidFill>
                <a:latin typeface="Calibri"/>
              </a:rPr>
              <a:t>Ban Chấp hành Trung ương đã họp nhiều lần, chỉ đạo thực hiện những nhiệm vụ trọng tâm trên 5 lĩnh vực:</a:t>
            </a:r>
          </a:p>
        </p:txBody>
      </p:sp>
      <p:sp>
        <p:nvSpPr>
          <p:cNvPr id="4" name="Rounded Rectangle 3"/>
          <p:cNvSpPr/>
          <p:nvPr/>
        </p:nvSpPr>
        <p:spPr>
          <a:xfrm>
            <a:off x="640080" y="1554480"/>
            <a:ext cx="2084831" cy="914400"/>
          </a:xfrm>
          <a:prstGeom prst="roundRect">
            <a:avLst>
              <a:gd name="adj" fmla="val 12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45920"/>
            <a:ext cx="1993391" cy="731520"/>
          </a:xfrm>
          <a:prstGeom prst="rect">
            <a:avLst/>
          </a:prstGeom>
          <a:noFill/>
        </p:spPr>
        <p:txBody>
          <a:bodyPr wrap="square" anchor="ctr" lIns="0" rIns="0" tIns="0" bIns="0">
            <a:spAutoFit/>
          </a:bodyPr>
          <a:lstStyle/>
          <a:p>
            <a:pPr algn="ctr">
              <a:lnSpc>
                <a:spcPct val="115000"/>
              </a:lnSpc>
              <a:spcAft>
                <a:spcPts val="400"/>
              </a:spcAft>
            </a:pPr>
            <a:r>
              <a:rPr sz="2200" b="0" i="0">
                <a:solidFill>
                  <a:srgbClr val="1A1210"/>
                </a:solidFill>
                <a:latin typeface="Calibri"/>
              </a:rPr>
              <a:t>💰</a:t>
            </a:r>
          </a:p>
          <a:p>
            <a:pPr algn="ctr">
              <a:lnSpc>
                <a:spcPct val="115000"/>
              </a:lnSpc>
              <a:spcAft>
                <a:spcPts val="0"/>
              </a:spcAft>
            </a:pPr>
            <a:r>
              <a:rPr sz="1050" b="1" i="0">
                <a:solidFill>
                  <a:srgbClr val="3A2A26"/>
                </a:solidFill>
                <a:latin typeface="Calibri"/>
              </a:rPr>
              <a:t>Kinh tế</a:t>
            </a:r>
          </a:p>
        </p:txBody>
      </p:sp>
      <p:sp>
        <p:nvSpPr>
          <p:cNvPr id="6" name="Rounded Rectangle 5"/>
          <p:cNvSpPr/>
          <p:nvPr/>
        </p:nvSpPr>
        <p:spPr>
          <a:xfrm>
            <a:off x="2816351" y="1554480"/>
            <a:ext cx="2084831" cy="914400"/>
          </a:xfrm>
          <a:prstGeom prst="roundRect">
            <a:avLst>
              <a:gd name="adj" fmla="val 12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62071" y="1645920"/>
            <a:ext cx="1993391" cy="731520"/>
          </a:xfrm>
          <a:prstGeom prst="rect">
            <a:avLst/>
          </a:prstGeom>
          <a:noFill/>
        </p:spPr>
        <p:txBody>
          <a:bodyPr wrap="square" anchor="ctr" lIns="0" rIns="0" tIns="0" bIns="0">
            <a:spAutoFit/>
          </a:bodyPr>
          <a:lstStyle/>
          <a:p>
            <a:pPr algn="ctr">
              <a:lnSpc>
                <a:spcPct val="115000"/>
              </a:lnSpc>
              <a:spcAft>
                <a:spcPts val="400"/>
              </a:spcAft>
            </a:pPr>
            <a:r>
              <a:rPr sz="2200" b="0" i="0">
                <a:solidFill>
                  <a:srgbClr val="1A1210"/>
                </a:solidFill>
                <a:latin typeface="Calibri"/>
              </a:rPr>
              <a:t>🎓</a:t>
            </a:r>
          </a:p>
          <a:p>
            <a:pPr algn="ctr">
              <a:lnSpc>
                <a:spcPct val="115000"/>
              </a:lnSpc>
              <a:spcAft>
                <a:spcPts val="0"/>
              </a:spcAft>
            </a:pPr>
            <a:r>
              <a:rPr sz="1050" b="1" i="0">
                <a:solidFill>
                  <a:srgbClr val="3A2A26"/>
                </a:solidFill>
                <a:latin typeface="Calibri"/>
              </a:rPr>
              <a:t>Giáo dục &amp; Khoa học</a:t>
            </a:r>
          </a:p>
        </p:txBody>
      </p:sp>
      <p:sp>
        <p:nvSpPr>
          <p:cNvPr id="8" name="Rounded Rectangle 7"/>
          <p:cNvSpPr/>
          <p:nvPr/>
        </p:nvSpPr>
        <p:spPr>
          <a:xfrm>
            <a:off x="4992622" y="1554480"/>
            <a:ext cx="2084831" cy="914400"/>
          </a:xfrm>
          <a:prstGeom prst="roundRect">
            <a:avLst>
              <a:gd name="adj" fmla="val 12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38342" y="1645920"/>
            <a:ext cx="1993391" cy="731520"/>
          </a:xfrm>
          <a:prstGeom prst="rect">
            <a:avLst/>
          </a:prstGeom>
          <a:noFill/>
        </p:spPr>
        <p:txBody>
          <a:bodyPr wrap="square" anchor="ctr" lIns="0" rIns="0" tIns="0" bIns="0">
            <a:spAutoFit/>
          </a:bodyPr>
          <a:lstStyle/>
          <a:p>
            <a:pPr algn="ctr">
              <a:lnSpc>
                <a:spcPct val="115000"/>
              </a:lnSpc>
              <a:spcAft>
                <a:spcPts val="400"/>
              </a:spcAft>
            </a:pPr>
            <a:r>
              <a:rPr sz="2200" b="0" i="0">
                <a:solidFill>
                  <a:srgbClr val="1A1210"/>
                </a:solidFill>
                <a:latin typeface="Calibri"/>
              </a:rPr>
              <a:t>🗳</a:t>
            </a:r>
          </a:p>
          <a:p>
            <a:pPr algn="ctr">
              <a:lnSpc>
                <a:spcPct val="115000"/>
              </a:lnSpc>
              <a:spcAft>
                <a:spcPts val="0"/>
              </a:spcAft>
            </a:pPr>
            <a:r>
              <a:rPr sz="1050" b="1" i="0">
                <a:solidFill>
                  <a:srgbClr val="3A2A26"/>
                </a:solidFill>
                <a:latin typeface="Calibri"/>
              </a:rPr>
              <a:t>Dân chủ</a:t>
            </a:r>
          </a:p>
        </p:txBody>
      </p:sp>
      <p:sp>
        <p:nvSpPr>
          <p:cNvPr id="10" name="Rounded Rectangle 9"/>
          <p:cNvSpPr/>
          <p:nvPr/>
        </p:nvSpPr>
        <p:spPr>
          <a:xfrm>
            <a:off x="7168893" y="1554480"/>
            <a:ext cx="2084831" cy="914400"/>
          </a:xfrm>
          <a:prstGeom prst="roundRect">
            <a:avLst>
              <a:gd name="adj" fmla="val 12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14613" y="1645920"/>
            <a:ext cx="1993391" cy="731520"/>
          </a:xfrm>
          <a:prstGeom prst="rect">
            <a:avLst/>
          </a:prstGeom>
          <a:noFill/>
        </p:spPr>
        <p:txBody>
          <a:bodyPr wrap="square" anchor="ctr" lIns="0" rIns="0" tIns="0" bIns="0">
            <a:spAutoFit/>
          </a:bodyPr>
          <a:lstStyle/>
          <a:p>
            <a:pPr algn="ctr">
              <a:lnSpc>
                <a:spcPct val="115000"/>
              </a:lnSpc>
              <a:spcAft>
                <a:spcPts val="400"/>
              </a:spcAft>
            </a:pPr>
            <a:r>
              <a:rPr sz="2200" b="0" i="0">
                <a:solidFill>
                  <a:srgbClr val="1A1210"/>
                </a:solidFill>
                <a:latin typeface="Calibri"/>
              </a:rPr>
              <a:t>🎭</a:t>
            </a:r>
          </a:p>
          <a:p>
            <a:pPr algn="ctr">
              <a:lnSpc>
                <a:spcPct val="115000"/>
              </a:lnSpc>
              <a:spcAft>
                <a:spcPts val="0"/>
              </a:spcAft>
            </a:pPr>
            <a:r>
              <a:rPr sz="1050" b="1" i="0">
                <a:solidFill>
                  <a:srgbClr val="3A2A26"/>
                </a:solidFill>
                <a:latin typeface="Calibri"/>
              </a:rPr>
              <a:t>Văn hóa</a:t>
            </a:r>
          </a:p>
        </p:txBody>
      </p:sp>
      <p:sp>
        <p:nvSpPr>
          <p:cNvPr id="12" name="Rounded Rectangle 11"/>
          <p:cNvSpPr/>
          <p:nvPr/>
        </p:nvSpPr>
        <p:spPr>
          <a:xfrm>
            <a:off x="9345164" y="1554480"/>
            <a:ext cx="2084831" cy="914400"/>
          </a:xfrm>
          <a:prstGeom prst="roundRect">
            <a:avLst>
              <a:gd name="adj" fmla="val 12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90884" y="1645920"/>
            <a:ext cx="1993391" cy="731520"/>
          </a:xfrm>
          <a:prstGeom prst="rect">
            <a:avLst/>
          </a:prstGeom>
          <a:noFill/>
        </p:spPr>
        <p:txBody>
          <a:bodyPr wrap="square" anchor="ctr" lIns="0" rIns="0" tIns="0" bIns="0">
            <a:spAutoFit/>
          </a:bodyPr>
          <a:lstStyle/>
          <a:p>
            <a:pPr algn="ctr">
              <a:lnSpc>
                <a:spcPct val="115000"/>
              </a:lnSpc>
              <a:spcAft>
                <a:spcPts val="400"/>
              </a:spcAft>
            </a:pPr>
            <a:r>
              <a:rPr sz="2200" b="0" i="0">
                <a:solidFill>
                  <a:srgbClr val="1A1210"/>
                </a:solidFill>
                <a:latin typeface="Calibri"/>
              </a:rPr>
              <a:t>🏛</a:t>
            </a:r>
          </a:p>
          <a:p>
            <a:pPr algn="ctr">
              <a:lnSpc>
                <a:spcPct val="115000"/>
              </a:lnSpc>
              <a:spcAft>
                <a:spcPts val="0"/>
              </a:spcAft>
            </a:pPr>
            <a:r>
              <a:rPr sz="1050" b="1" i="0">
                <a:solidFill>
                  <a:srgbClr val="3A2A26"/>
                </a:solidFill>
                <a:latin typeface="Calibri"/>
              </a:rPr>
              <a:t>Xây dựng Đảng &amp; Nhà nước</a:t>
            </a:r>
          </a:p>
        </p:txBody>
      </p:sp>
      <p:sp>
        <p:nvSpPr>
          <p:cNvPr id="14" name="Rectangle 13"/>
          <p:cNvSpPr/>
          <p:nvPr/>
        </p:nvSpPr>
        <p:spPr>
          <a:xfrm>
            <a:off x="640080" y="2697480"/>
            <a:ext cx="50800" cy="10515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0880" y="2697480"/>
            <a:ext cx="6715760" cy="105156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2788920"/>
            <a:ext cx="6400800" cy="868680"/>
          </a:xfrm>
          <a:prstGeom prst="rect">
            <a:avLst/>
          </a:prstGeom>
          <a:noFill/>
        </p:spPr>
        <p:txBody>
          <a:bodyPr wrap="square" anchor="t" lIns="0" rIns="0" tIns="0" bIns="0">
            <a:spAutoFit/>
          </a:bodyPr>
          <a:lstStyle/>
          <a:p>
            <a:pPr algn="l">
              <a:lnSpc>
                <a:spcPct val="115000"/>
              </a:lnSpc>
              <a:spcAft>
                <a:spcPts val="400"/>
              </a:spcAft>
            </a:pPr>
            <a:r>
              <a:rPr sz="1400" b="1" i="0">
                <a:solidFill>
                  <a:srgbClr val="1A1210"/>
                </a:solidFill>
                <a:latin typeface="Georgia"/>
              </a:rPr>
              <a:t>Về Kinh tế</a:t>
            </a:r>
          </a:p>
          <a:p>
            <a:pPr>
              <a:lnSpc>
                <a:spcPct val="120000"/>
              </a:lnSpc>
            </a:pPr>
            <a:r>
              <a:rPr sz="1150" b="0">
                <a:solidFill>
                  <a:srgbClr val="3A2A26"/>
                </a:solidFill>
                <a:latin typeface="Calibri"/>
              </a:rPr>
              <a:t>Phát triển kinh tế là </a:t>
            </a:r>
            <a:r>
              <a:rPr sz="1150" b="1">
                <a:solidFill>
                  <a:srgbClr val="8C0A1F"/>
                </a:solidFill>
                <a:latin typeface="Calibri"/>
              </a:rPr>
              <a:t>nhiệm vụ trọng tâm</a:t>
            </a:r>
            <a:r>
              <a:rPr sz="1150" b="0">
                <a:solidFill>
                  <a:srgbClr val="3A2A26"/>
                </a:solidFill>
                <a:latin typeface="Calibri"/>
              </a:rPr>
              <a:t>; phát huy tối đa nội lực, nâng cao hiệu quả hợp tác quốc tế, ra sức cần kiệm, khắc phục xu hướng chạy theo "xã hội tiêu dùng".</a:t>
            </a:r>
          </a:p>
        </p:txBody>
      </p:sp>
      <p:sp>
        <p:nvSpPr>
          <p:cNvPr id="17" name="Rounded Rectangle 16"/>
          <p:cNvSpPr/>
          <p:nvPr/>
        </p:nvSpPr>
        <p:spPr>
          <a:xfrm>
            <a:off x="640080" y="3886200"/>
            <a:ext cx="6766560" cy="868680"/>
          </a:xfrm>
          <a:prstGeom prst="roundRect">
            <a:avLst>
              <a:gd name="adj" fmla="val 10000"/>
            </a:avLst>
          </a:prstGeom>
          <a:solidFill>
            <a:srgbClr val="FC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977640"/>
            <a:ext cx="1188720" cy="685800"/>
          </a:xfrm>
          <a:prstGeom prst="rect">
            <a:avLst/>
          </a:prstGeom>
          <a:noFill/>
        </p:spPr>
        <p:txBody>
          <a:bodyPr wrap="square" anchor="t" lIns="0" rIns="0" tIns="0" bIns="0">
            <a:spAutoFit/>
          </a:bodyPr>
          <a:lstStyle/>
          <a:p>
            <a:pPr algn="l">
              <a:lnSpc>
                <a:spcPct val="115000"/>
              </a:lnSpc>
              <a:spcAft>
                <a:spcPts val="0"/>
              </a:spcAft>
            </a:pPr>
            <a:r>
              <a:rPr sz="950" b="1" i="0">
                <a:solidFill>
                  <a:srgbClr val="FFFFFF"/>
                </a:solidFill>
                <a:latin typeface="Calibri"/>
              </a:rPr>
              <a:t>THÁCH THỨC</a:t>
            </a:r>
          </a:p>
        </p:txBody>
      </p:sp>
      <p:sp>
        <p:nvSpPr>
          <p:cNvPr id="19" name="Rounded Rectangle 18"/>
          <p:cNvSpPr/>
          <p:nvPr/>
        </p:nvSpPr>
        <p:spPr>
          <a:xfrm>
            <a:off x="804672" y="3977640"/>
            <a:ext cx="1051560" cy="274320"/>
          </a:xfrm>
          <a:prstGeom prst="roundRect">
            <a:avLst>
              <a:gd name="adj" fmla="val 4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977640"/>
            <a:ext cx="1051560" cy="274320"/>
          </a:xfrm>
          <a:prstGeom prst="rect">
            <a:avLst/>
          </a:prstGeom>
          <a:noFill/>
        </p:spPr>
        <p:txBody>
          <a:bodyPr wrap="square" anchor="ctr" lIns="0" rIns="0" tIns="0" bIns="0">
            <a:spAutoFit/>
          </a:bodyPr>
          <a:lstStyle/>
          <a:p>
            <a:pPr algn="ctr">
              <a:lnSpc>
                <a:spcPct val="115000"/>
              </a:lnSpc>
              <a:spcAft>
                <a:spcPts val="0"/>
              </a:spcAft>
            </a:pPr>
            <a:r>
              <a:rPr sz="950" b="1" i="0">
                <a:solidFill>
                  <a:srgbClr val="FFFFFF"/>
                </a:solidFill>
                <a:latin typeface="Calibri"/>
              </a:rPr>
              <a:t>THÁCH THỨC</a:t>
            </a:r>
          </a:p>
        </p:txBody>
      </p:sp>
      <p:sp>
        <p:nvSpPr>
          <p:cNvPr id="21" name="TextBox 20"/>
          <p:cNvSpPr txBox="1"/>
          <p:nvPr/>
        </p:nvSpPr>
        <p:spPr>
          <a:xfrm>
            <a:off x="2011680" y="3959352"/>
            <a:ext cx="5166360" cy="722376"/>
          </a:xfrm>
          <a:prstGeom prst="rect">
            <a:avLst/>
          </a:prstGeom>
          <a:noFill/>
        </p:spPr>
        <p:txBody>
          <a:bodyPr wrap="square" anchor="ctr" lIns="0" rIns="0" tIns="0" bIns="0">
            <a:spAutoFit/>
          </a:bodyPr>
          <a:lstStyle/>
          <a:p>
            <a:pPr>
              <a:lnSpc>
                <a:spcPct val="125000"/>
              </a:lnSpc>
            </a:pPr>
            <a:r>
              <a:rPr sz="1150" b="0">
                <a:solidFill>
                  <a:srgbClr val="3A2A26"/>
                </a:solidFill>
                <a:latin typeface="Calibri"/>
              </a:rPr>
              <a:t>Chịu tác động nghiêm trọng từ khủng hoảng tài chính – tiền tệ khu vực (từ 7/1997).</a:t>
            </a:r>
          </a:p>
        </p:txBody>
      </p:sp>
      <p:sp>
        <p:nvSpPr>
          <p:cNvPr id="22" name="Rounded Rectangle 21"/>
          <p:cNvSpPr/>
          <p:nvPr/>
        </p:nvSpPr>
        <p:spPr>
          <a:xfrm>
            <a:off x="7589520" y="2697480"/>
            <a:ext cx="1965960" cy="1051560"/>
          </a:xfrm>
          <a:prstGeom prst="roundRect">
            <a:avLst>
              <a:gd name="adj" fmla="val 8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0" y="2807208"/>
            <a:ext cx="1783080" cy="832104"/>
          </a:xfrm>
          <a:prstGeom prst="rect">
            <a:avLst/>
          </a:prstGeom>
          <a:noFill/>
        </p:spPr>
        <p:txBody>
          <a:bodyPr wrap="square" anchor="ctr" lIns="0" rIns="0" tIns="0" bIns="0">
            <a:spAutoFit/>
          </a:bodyPr>
          <a:lstStyle/>
          <a:p>
            <a:pPr algn="ctr">
              <a:lnSpc>
                <a:spcPct val="115000"/>
              </a:lnSpc>
              <a:spcAft>
                <a:spcPts val="400"/>
              </a:spcAft>
            </a:pPr>
            <a:r>
              <a:rPr sz="1600" b="1" i="0">
                <a:solidFill>
                  <a:srgbClr val="C8102E"/>
                </a:solidFill>
                <a:latin typeface="Georgia"/>
              </a:rPr>
              <a:t>~7%/năm</a:t>
            </a:r>
          </a:p>
          <a:p>
            <a:pPr algn="ctr">
              <a:lnSpc>
                <a:spcPct val="115000"/>
              </a:lnSpc>
              <a:spcAft>
                <a:spcPts val="0"/>
              </a:spcAft>
            </a:pPr>
            <a:r>
              <a:rPr sz="1050" b="0" i="0">
                <a:solidFill>
                  <a:srgbClr val="3A2A26"/>
                </a:solidFill>
                <a:latin typeface="Calibri"/>
              </a:rPr>
              <a:t>GDP tăng bình quân đến năm 2000</a:t>
            </a:r>
          </a:p>
        </p:txBody>
      </p:sp>
      <p:sp>
        <p:nvSpPr>
          <p:cNvPr id="24" name="Rounded Rectangle 23"/>
          <p:cNvSpPr/>
          <p:nvPr/>
        </p:nvSpPr>
        <p:spPr>
          <a:xfrm>
            <a:off x="9692640" y="2697480"/>
            <a:ext cx="1965960" cy="1051560"/>
          </a:xfrm>
          <a:prstGeom prst="roundRect">
            <a:avLst>
              <a:gd name="adj" fmla="val 8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0" y="2807208"/>
            <a:ext cx="1783080" cy="832104"/>
          </a:xfrm>
          <a:prstGeom prst="rect">
            <a:avLst/>
          </a:prstGeom>
          <a:noFill/>
        </p:spPr>
        <p:txBody>
          <a:bodyPr wrap="square" anchor="ctr" lIns="0" rIns="0" tIns="0" bIns="0">
            <a:spAutoFit/>
          </a:bodyPr>
          <a:lstStyle/>
          <a:p>
            <a:pPr algn="ctr">
              <a:lnSpc>
                <a:spcPct val="115000"/>
              </a:lnSpc>
              <a:spcAft>
                <a:spcPts val="400"/>
              </a:spcAft>
            </a:pPr>
            <a:r>
              <a:rPr sz="1600" b="1" i="0">
                <a:solidFill>
                  <a:srgbClr val="C8102E"/>
                </a:solidFill>
                <a:latin typeface="Georgia"/>
              </a:rPr>
              <a:t>13,5%/năm</a:t>
            </a:r>
          </a:p>
          <a:p>
            <a:pPr algn="ctr">
              <a:lnSpc>
                <a:spcPct val="115000"/>
              </a:lnSpc>
              <a:spcAft>
                <a:spcPts val="0"/>
              </a:spcAft>
            </a:pPr>
            <a:r>
              <a:rPr sz="1050" b="0" i="0">
                <a:solidFill>
                  <a:srgbClr val="3A2A26"/>
                </a:solidFill>
                <a:latin typeface="Calibri"/>
              </a:rPr>
              <a:t>Giá trị sản xuất công nghiệp tăng bình quân</a:t>
            </a:r>
          </a:p>
        </p:txBody>
      </p:sp>
      <p:sp>
        <p:nvSpPr>
          <p:cNvPr id="26" name="TextBox 25"/>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7/25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1.3 · VỀ GIÁO DỤC &amp; KHOA HỌC — DÂN CHỦ</a:t>
            </a:r>
          </a:p>
        </p:txBody>
      </p:sp>
      <p:sp>
        <p:nvSpPr>
          <p:cNvPr id="3" name="Rectangle 2"/>
          <p:cNvSpPr/>
          <p:nvPr/>
        </p:nvSpPr>
        <p:spPr>
          <a:xfrm>
            <a:off x="640080" y="1463040"/>
            <a:ext cx="5257800" cy="5080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13840"/>
            <a:ext cx="5257800" cy="324104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600200"/>
            <a:ext cx="4855464" cy="3017520"/>
          </a:xfrm>
          <a:prstGeom prst="rect">
            <a:avLst/>
          </a:prstGeom>
          <a:noFill/>
        </p:spPr>
        <p:txBody>
          <a:bodyPr wrap="square" anchor="t" lIns="0" rIns="0" tIns="0" bIns="0">
            <a:spAutoFit/>
          </a:bodyPr>
          <a:lstStyle/>
          <a:p>
            <a:pPr algn="l">
              <a:lnSpc>
                <a:spcPct val="115000"/>
              </a:lnSpc>
              <a:spcAft>
                <a:spcPts val="600"/>
              </a:spcAft>
            </a:pPr>
            <a:r>
              <a:rPr sz="1450" b="1" i="0">
                <a:solidFill>
                  <a:srgbClr val="8C0A1F"/>
                </a:solidFill>
                <a:latin typeface="Georgia"/>
              </a:rPr>
              <a:t>🎓 Giáo dục &amp; Khoa học</a:t>
            </a:r>
          </a:p>
          <a:p>
            <a:pPr>
              <a:lnSpc>
                <a:spcPct val="125000"/>
              </a:lnSpc>
            </a:pPr>
            <a:r>
              <a:rPr sz="1400" b="0">
                <a:solidFill>
                  <a:srgbClr val="3A2A26"/>
                </a:solidFill>
                <a:latin typeface="Calibri"/>
              </a:rPr>
              <a:t>Hội nghị TW 2 khóa VIII (12/1996) ban hành </a:t>
            </a:r>
            <a:r>
              <a:rPr sz="1400" b="1">
                <a:solidFill>
                  <a:srgbClr val="1A1210"/>
                </a:solidFill>
                <a:latin typeface="Calibri"/>
              </a:rPr>
              <a:t>Nghị quyết số 02-NQ/HNTW</a:t>
            </a:r>
            <a:r>
              <a:rPr sz="1400" b="0">
                <a:solidFill>
                  <a:srgbClr val="3A2A26"/>
                </a:solidFill>
                <a:latin typeface="Calibri"/>
              </a:rPr>
              <a:t> về định hướng chiến lược phát triển giáo dục – đào tạo và khoa học – công nghệ. Xác định: </a:t>
            </a:r>
            <a:r>
              <a:rPr sz="1400" b="1">
                <a:solidFill>
                  <a:srgbClr val="1A1210"/>
                </a:solidFill>
                <a:latin typeface="Calibri"/>
              </a:rPr>
              <a:t>giáo dục – đào tạo cùng với khoa học – công nghệ là quốc sách hàng đầu.</a:t>
            </a:r>
          </a:p>
        </p:txBody>
      </p:sp>
      <p:sp>
        <p:nvSpPr>
          <p:cNvPr id="6" name="Rectangle 5"/>
          <p:cNvSpPr/>
          <p:nvPr/>
        </p:nvSpPr>
        <p:spPr>
          <a:xfrm>
            <a:off x="6263640" y="1463040"/>
            <a:ext cx="5257800" cy="5080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63640" y="1513840"/>
            <a:ext cx="5257800" cy="324104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4808" y="1600200"/>
            <a:ext cx="4855464" cy="3017520"/>
          </a:xfrm>
          <a:prstGeom prst="rect">
            <a:avLst/>
          </a:prstGeom>
          <a:noFill/>
        </p:spPr>
        <p:txBody>
          <a:bodyPr wrap="square" anchor="t" lIns="0" rIns="0" tIns="0" bIns="0">
            <a:spAutoFit/>
          </a:bodyPr>
          <a:lstStyle/>
          <a:p>
            <a:pPr algn="l">
              <a:lnSpc>
                <a:spcPct val="115000"/>
              </a:lnSpc>
              <a:spcAft>
                <a:spcPts val="600"/>
              </a:spcAft>
            </a:pPr>
            <a:r>
              <a:rPr sz="1450" b="1" i="0">
                <a:solidFill>
                  <a:srgbClr val="8C0A1F"/>
                </a:solidFill>
                <a:latin typeface="Georgia"/>
              </a:rPr>
              <a:t>🗳 Dân chủ</a:t>
            </a:r>
          </a:p>
          <a:p>
            <a:pPr>
              <a:lnSpc>
                <a:spcPct val="125000"/>
              </a:lnSpc>
            </a:pPr>
            <a:r>
              <a:rPr sz="1400" b="0">
                <a:solidFill>
                  <a:srgbClr val="3A2A26"/>
                </a:solidFill>
                <a:latin typeface="Calibri"/>
              </a:rPr>
              <a:t>Hội nghị TW 3 khóa VIII (6/1997) ra </a:t>
            </a:r>
            <a:r>
              <a:rPr sz="1400" b="1">
                <a:solidFill>
                  <a:srgbClr val="1A1210"/>
                </a:solidFill>
                <a:latin typeface="Calibri"/>
              </a:rPr>
              <a:t>Nghị quyết số 03-NQ/HNTW</a:t>
            </a:r>
            <a:r>
              <a:rPr sz="1400" b="0">
                <a:solidFill>
                  <a:srgbClr val="3A2A26"/>
                </a:solidFill>
                <a:latin typeface="Calibri"/>
              </a:rPr>
              <a:t> về phát huy quyền làm chủ của nhân dân, tiếp tục xây dựng Nhà nước Cộng hòa xã hội chủ nghĩa Việt Nam. Bộ Chính trị ban hành </a:t>
            </a:r>
            <a:r>
              <a:rPr sz="1400" b="1">
                <a:solidFill>
                  <a:srgbClr val="1A1210"/>
                </a:solidFill>
                <a:latin typeface="Calibri"/>
              </a:rPr>
              <a:t>Chỉ thị số 30-CT/TW</a:t>
            </a:r>
            <a:r>
              <a:rPr sz="1400" b="0">
                <a:solidFill>
                  <a:srgbClr val="3A2A26"/>
                </a:solidFill>
                <a:latin typeface="Calibri"/>
              </a:rPr>
              <a:t> (18/2/1998) về xây dựng và thực hiện Quy chế dân chủ ở cơ sở.</a:t>
            </a:r>
          </a:p>
        </p:txBody>
      </p:sp>
      <p:sp>
        <p:nvSpPr>
          <p:cNvPr id="9" name="TextBox 8"/>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8/25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1.3 · VỀ VĂN HÓA — "TUYÊN NGÔN VĂN HÓA"</a:t>
            </a:r>
          </a:p>
        </p:txBody>
      </p:sp>
      <p:sp>
        <p:nvSpPr>
          <p:cNvPr id="3" name="Rectangle 2"/>
          <p:cNvSpPr/>
          <p:nvPr/>
        </p:nvSpPr>
        <p:spPr>
          <a:xfrm>
            <a:off x="640080" y="1051560"/>
            <a:ext cx="50800" cy="1188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90880" y="1051560"/>
            <a:ext cx="10830560" cy="118872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143000"/>
            <a:ext cx="10515600" cy="1005840"/>
          </a:xfrm>
          <a:prstGeom prst="rect">
            <a:avLst/>
          </a:prstGeom>
          <a:noFill/>
        </p:spPr>
        <p:txBody>
          <a:bodyPr wrap="square" anchor="t" lIns="0" rIns="0" tIns="0" bIns="0">
            <a:spAutoFit/>
          </a:bodyPr>
          <a:lstStyle/>
          <a:p>
            <a:pPr algn="l">
              <a:lnSpc>
                <a:spcPct val="115000"/>
              </a:lnSpc>
              <a:spcAft>
                <a:spcPts val="400"/>
              </a:spcAft>
            </a:pPr>
            <a:r>
              <a:rPr sz="1000" b="1" i="0">
                <a:solidFill>
                  <a:srgbClr val="C8102E"/>
                </a:solidFill>
                <a:latin typeface="Calibri"/>
              </a:rPr>
              <a:t>Hội nghị TW 5 khóa VIII · 7/1998</a:t>
            </a:r>
          </a:p>
          <a:p>
            <a:pPr algn="l">
              <a:lnSpc>
                <a:spcPct val="115000"/>
              </a:lnSpc>
              <a:spcAft>
                <a:spcPts val="400"/>
              </a:spcAft>
            </a:pPr>
            <a:r>
              <a:rPr sz="1400" b="1" i="0">
                <a:solidFill>
                  <a:srgbClr val="1A1210"/>
                </a:solidFill>
                <a:latin typeface="Georgia"/>
              </a:rPr>
              <a:t>Nghị quyết số 03-NQ/TW</a:t>
            </a:r>
          </a:p>
          <a:p>
            <a:pPr>
              <a:lnSpc>
                <a:spcPct val="120000"/>
              </a:lnSpc>
            </a:pPr>
            <a:r>
              <a:rPr sz="1350" b="0">
                <a:solidFill>
                  <a:srgbClr val="3A2A26"/>
                </a:solidFill>
                <a:latin typeface="Calibri"/>
              </a:rPr>
              <a:t>Về xây dựng và phát triển nền văn hóa Việt Nam tiên tiến, đậm đà bản sắc dân tộc.</a:t>
            </a:r>
          </a:p>
        </p:txBody>
      </p:sp>
      <p:sp>
        <p:nvSpPr>
          <p:cNvPr id="6" name="Rectangle 5"/>
          <p:cNvSpPr/>
          <p:nvPr/>
        </p:nvSpPr>
        <p:spPr>
          <a:xfrm>
            <a:off x="640080" y="2423160"/>
            <a:ext cx="50800" cy="105156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0880" y="2423160"/>
            <a:ext cx="10830560" cy="105156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532888"/>
            <a:ext cx="10378440" cy="832104"/>
          </a:xfrm>
          <a:prstGeom prst="rect">
            <a:avLst/>
          </a:prstGeom>
          <a:noFill/>
        </p:spPr>
        <p:txBody>
          <a:bodyPr wrap="square" anchor="ctr" lIns="0" rIns="0" tIns="0" bIns="0">
            <a:spAutoFit/>
          </a:bodyPr>
          <a:lstStyle/>
          <a:p>
            <a:pPr>
              <a:lnSpc>
                <a:spcPct val="130000"/>
              </a:lnSpc>
            </a:pPr>
            <a:r>
              <a:rPr sz="1600" i="1" b="0">
                <a:solidFill>
                  <a:srgbClr val="1A1210"/>
                </a:solidFill>
                <a:latin typeface="Calibri"/>
              </a:rPr>
              <a:t>Văn hóa là </a:t>
            </a:r>
            <a:r>
              <a:rPr sz="1600" i="0" b="1">
                <a:solidFill>
                  <a:srgbClr val="8C0A1F"/>
                </a:solidFill>
                <a:latin typeface="Calibri"/>
              </a:rPr>
              <a:t>nền tảng tinh thần của xã hội</a:t>
            </a:r>
            <a:r>
              <a:rPr sz="1600" i="1" b="0">
                <a:solidFill>
                  <a:srgbClr val="1A1210"/>
                </a:solidFill>
                <a:latin typeface="Calibri"/>
              </a:rPr>
              <a:t>, vừa là mục tiêu vừa là động lực thúc đẩy sự phát triển kinh tế – xã hội.</a:t>
            </a:r>
          </a:p>
        </p:txBody>
      </p:sp>
      <p:sp>
        <p:nvSpPr>
          <p:cNvPr id="9" name="TextBox 8"/>
          <p:cNvSpPr txBox="1"/>
          <p:nvPr/>
        </p:nvSpPr>
        <p:spPr>
          <a:xfrm>
            <a:off x="640080" y="3657600"/>
            <a:ext cx="10881360" cy="548640"/>
          </a:xfrm>
          <a:prstGeom prst="rect">
            <a:avLst/>
          </a:prstGeom>
          <a:noFill/>
        </p:spPr>
        <p:txBody>
          <a:bodyPr wrap="square" anchor="t" lIns="0" rIns="0" tIns="0" bIns="0">
            <a:spAutoFit/>
          </a:bodyPr>
          <a:lstStyle/>
          <a:p>
            <a:pPr>
              <a:lnSpc>
                <a:spcPct val="130000"/>
              </a:lnSpc>
            </a:pPr>
            <a:r>
              <a:rPr sz="1350" b="0">
                <a:solidFill>
                  <a:srgbClr val="3A2A26"/>
                </a:solidFill>
                <a:latin typeface="Calibri"/>
              </a:rPr>
              <a:t>Nghị quyết này được coi như </a:t>
            </a:r>
            <a:r>
              <a:rPr sz="1350" b="1">
                <a:solidFill>
                  <a:srgbClr val="8C0A1F"/>
                </a:solidFill>
                <a:latin typeface="Calibri"/>
              </a:rPr>
              <a:t>tuyên ngôn văn hóa của Đảng</a:t>
            </a:r>
            <a:r>
              <a:rPr sz="1350" b="0">
                <a:solidFill>
                  <a:srgbClr val="3A2A26"/>
                </a:solidFill>
                <a:latin typeface="Calibri"/>
              </a:rPr>
              <a:t> trong thời kỳ CNH, HĐH.</a:t>
            </a:r>
          </a:p>
        </p:txBody>
      </p:sp>
      <p:sp>
        <p:nvSpPr>
          <p:cNvPr id="10" name="TextBox 9"/>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9/25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1.3 · VỀ XÂY DỰNG ĐẢNG &amp; BỘ MÁY NHÀ NƯỚC</a:t>
            </a:r>
          </a:p>
        </p:txBody>
      </p:sp>
      <p:sp>
        <p:nvSpPr>
          <p:cNvPr id="3" name="Rounded Rectangle 2"/>
          <p:cNvSpPr/>
          <p:nvPr/>
        </p:nvSpPr>
        <p:spPr>
          <a:xfrm>
            <a:off x="822960" y="1143000"/>
            <a:ext cx="109728" cy="109728"/>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097280"/>
            <a:ext cx="10195560" cy="1097280"/>
          </a:xfrm>
          <a:prstGeom prst="rect">
            <a:avLst/>
          </a:prstGeom>
          <a:noFill/>
        </p:spPr>
        <p:txBody>
          <a:bodyPr wrap="square" anchor="t" lIns="0" rIns="0" tIns="0" bIns="0">
            <a:spAutoFit/>
          </a:bodyPr>
          <a:lstStyle/>
          <a:p>
            <a:pPr algn="l">
              <a:lnSpc>
                <a:spcPct val="115000"/>
              </a:lnSpc>
              <a:spcAft>
                <a:spcPts val="300"/>
              </a:spcAft>
            </a:pPr>
            <a:r>
              <a:rPr sz="1100" b="1" i="0">
                <a:solidFill>
                  <a:srgbClr val="C8102E"/>
                </a:solidFill>
                <a:latin typeface="Calibri"/>
              </a:rPr>
              <a:t>Hội nghị TW 4 · 12/1997</a:t>
            </a:r>
          </a:p>
          <a:p>
            <a:pPr>
              <a:lnSpc>
                <a:spcPct val="125000"/>
              </a:lnSpc>
            </a:pPr>
            <a:r>
              <a:rPr sz="1250" b="0">
                <a:solidFill>
                  <a:srgbClr val="3A2A26"/>
                </a:solidFill>
                <a:latin typeface="Calibri"/>
              </a:rPr>
              <a:t>Bầu đồng chí </a:t>
            </a:r>
            <a:r>
              <a:rPr sz="1250" b="1">
                <a:solidFill>
                  <a:srgbClr val="1A1210"/>
                </a:solidFill>
                <a:latin typeface="Calibri"/>
              </a:rPr>
              <a:t>Lê Khả Phiêu</a:t>
            </a:r>
            <a:r>
              <a:rPr sz="1250" b="0">
                <a:solidFill>
                  <a:srgbClr val="3A2A26"/>
                </a:solidFill>
                <a:latin typeface="Calibri"/>
              </a:rPr>
              <a:t> làm Tổng Bí thư.</a:t>
            </a:r>
          </a:p>
        </p:txBody>
      </p:sp>
      <p:sp>
        <p:nvSpPr>
          <p:cNvPr id="5" name="Rounded Rectangle 4"/>
          <p:cNvSpPr/>
          <p:nvPr/>
        </p:nvSpPr>
        <p:spPr>
          <a:xfrm>
            <a:off x="822960" y="2130552"/>
            <a:ext cx="109728" cy="109728"/>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084832"/>
            <a:ext cx="10195560" cy="1097280"/>
          </a:xfrm>
          <a:prstGeom prst="rect">
            <a:avLst/>
          </a:prstGeom>
          <a:noFill/>
        </p:spPr>
        <p:txBody>
          <a:bodyPr wrap="square" anchor="t" lIns="0" rIns="0" tIns="0" bIns="0">
            <a:spAutoFit/>
          </a:bodyPr>
          <a:lstStyle/>
          <a:p>
            <a:pPr algn="l">
              <a:lnSpc>
                <a:spcPct val="115000"/>
              </a:lnSpc>
              <a:spcAft>
                <a:spcPts val="300"/>
              </a:spcAft>
            </a:pPr>
            <a:r>
              <a:rPr sz="1100" b="1" i="0">
                <a:solidFill>
                  <a:srgbClr val="C8102E"/>
                </a:solidFill>
                <a:latin typeface="Calibri"/>
              </a:rPr>
              <a:t>Hội nghị TW 6 (lần 2) · 2/1999</a:t>
            </a:r>
          </a:p>
          <a:p>
            <a:pPr>
              <a:lnSpc>
                <a:spcPct val="125000"/>
              </a:lnSpc>
            </a:pPr>
            <a:r>
              <a:rPr sz="1250" b="0">
                <a:solidFill>
                  <a:srgbClr val="3A2A26"/>
                </a:solidFill>
                <a:latin typeface="Calibri"/>
              </a:rPr>
              <a:t>Nghị quyết số 10-NQ/TW (2/2/1999): một số vấn đề cơ bản và cấp bách trong công tác xây dựng Đảng, đẩy mạnh cuộc vận động xây dựng, chỉnh đốn Đảng. Yêu cầu kiên định những quan điểm có tính nguyên tắc như độc lập dân tộc gắn liền với chủ nghĩa xã hội, chủ nghĩa Mác – Lênin và tư tưởng Hồ Chí Minh.</a:t>
            </a:r>
          </a:p>
        </p:txBody>
      </p:sp>
      <p:sp>
        <p:nvSpPr>
          <p:cNvPr id="7" name="Rounded Rectangle 6"/>
          <p:cNvSpPr/>
          <p:nvPr/>
        </p:nvSpPr>
        <p:spPr>
          <a:xfrm>
            <a:off x="822960" y="3886200"/>
            <a:ext cx="109728" cy="109728"/>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840480"/>
            <a:ext cx="10195560" cy="1097280"/>
          </a:xfrm>
          <a:prstGeom prst="rect">
            <a:avLst/>
          </a:prstGeom>
          <a:noFill/>
        </p:spPr>
        <p:txBody>
          <a:bodyPr wrap="square" anchor="t" lIns="0" rIns="0" tIns="0" bIns="0">
            <a:spAutoFit/>
          </a:bodyPr>
          <a:lstStyle/>
          <a:p>
            <a:pPr algn="l">
              <a:lnSpc>
                <a:spcPct val="115000"/>
              </a:lnSpc>
              <a:spcAft>
                <a:spcPts val="300"/>
              </a:spcAft>
            </a:pPr>
            <a:r>
              <a:rPr sz="1100" b="1" i="0">
                <a:solidFill>
                  <a:srgbClr val="C8102E"/>
                </a:solidFill>
                <a:latin typeface="Calibri"/>
              </a:rPr>
              <a:t>Hội nghị TW 7 · 8/1999</a:t>
            </a:r>
          </a:p>
          <a:p>
            <a:pPr>
              <a:lnSpc>
                <a:spcPct val="125000"/>
              </a:lnSpc>
            </a:pPr>
            <a:r>
              <a:rPr sz="1250" b="0">
                <a:solidFill>
                  <a:srgbClr val="3A2A26"/>
                </a:solidFill>
                <a:latin typeface="Calibri"/>
              </a:rPr>
              <a:t>Xác định rõ hơn chức năng, nhiệm vụ và tổ chức các ban của Đảng ở các cấp; cải tiến cách làm việc của các cơ quan của Quốc hội, của Chính phủ; sắp xếp tổ chức của hai ngành kiểm sát và tòa án.</a:t>
            </a:r>
          </a:p>
        </p:txBody>
      </p:sp>
      <p:sp>
        <p:nvSpPr>
          <p:cNvPr id="9" name="TextBox 8"/>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10/25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A0712"/>
        </a:solidFill>
        <a:effectLst/>
      </p:bgPr>
    </p:bg>
    <p:spTree>
      <p:nvGrpSpPr>
        <p:cNvPr id="1" name=""/>
        <p:cNvGrpSpPr/>
        <p:nvPr/>
      </p:nvGrpSpPr>
      <p:grpSpPr/>
      <p:sp>
        <p:nvSpPr>
          <p:cNvPr id="2" name="TextBox 1"/>
          <p:cNvSpPr txBox="1"/>
          <p:nvPr/>
        </p:nvSpPr>
        <p:spPr>
          <a:xfrm>
            <a:off x="914400" y="2103120"/>
            <a:ext cx="5486400" cy="457200"/>
          </a:xfrm>
          <a:prstGeom prst="rect">
            <a:avLst/>
          </a:prstGeom>
          <a:noFill/>
        </p:spPr>
        <p:txBody>
          <a:bodyPr wrap="square" anchor="t" lIns="0" rIns="0" tIns="0" bIns="0">
            <a:spAutoFit/>
          </a:bodyPr>
          <a:lstStyle/>
          <a:p>
            <a:pPr algn="l">
              <a:lnSpc>
                <a:spcPct val="115000"/>
              </a:lnSpc>
              <a:spcAft>
                <a:spcPts val="0"/>
              </a:spcAft>
            </a:pPr>
            <a:r>
              <a:rPr sz="1500" b="1" i="0">
                <a:solidFill>
                  <a:srgbClr val="FFCD00"/>
                </a:solidFill>
                <a:latin typeface="Calibri"/>
              </a:rPr>
              <a:t>PHẦN 2</a:t>
            </a:r>
          </a:p>
        </p:txBody>
      </p:sp>
      <p:sp>
        <p:nvSpPr>
          <p:cNvPr id="3" name="TextBox 2"/>
          <p:cNvSpPr txBox="1"/>
          <p:nvPr/>
        </p:nvSpPr>
        <p:spPr>
          <a:xfrm>
            <a:off x="914400" y="2606040"/>
            <a:ext cx="9601200" cy="1463040"/>
          </a:xfrm>
          <a:prstGeom prst="rect">
            <a:avLst/>
          </a:prstGeom>
          <a:noFill/>
        </p:spPr>
        <p:txBody>
          <a:bodyPr wrap="square" anchor="t" lIns="0" rIns="0" tIns="0" bIns="0">
            <a:spAutoFit/>
          </a:bodyPr>
          <a:lstStyle/>
          <a:p>
            <a:pPr algn="l">
              <a:lnSpc>
                <a:spcPct val="115000"/>
              </a:lnSpc>
              <a:spcAft>
                <a:spcPts val="600"/>
              </a:spcAft>
            </a:pPr>
            <a:r>
              <a:rPr sz="4400" b="1" i="0">
                <a:solidFill>
                  <a:srgbClr val="FFFFFF"/>
                </a:solidFill>
                <a:latin typeface="Georgia"/>
              </a:rPr>
              <a:t>Đại hội IX  </a:t>
            </a:r>
            <a:r>
              <a:rPr sz="2400" b="0" i="0">
                <a:solidFill>
                  <a:srgbClr val="F4DD8A"/>
                </a:solidFill>
                <a:latin typeface="Georgia"/>
              </a:rPr>
              <a:t>(4/2001)</a:t>
            </a:r>
          </a:p>
        </p:txBody>
      </p:sp>
      <p:sp>
        <p:nvSpPr>
          <p:cNvPr id="4" name="TextBox 3"/>
          <p:cNvSpPr txBox="1"/>
          <p:nvPr/>
        </p:nvSpPr>
        <p:spPr>
          <a:xfrm>
            <a:off x="914400" y="3749039"/>
            <a:ext cx="8229600" cy="822960"/>
          </a:xfrm>
          <a:prstGeom prst="rect">
            <a:avLst/>
          </a:prstGeom>
          <a:noFill/>
        </p:spPr>
        <p:txBody>
          <a:bodyPr wrap="square" anchor="t" lIns="0" rIns="0" tIns="0" bIns="0">
            <a:spAutoFit/>
          </a:bodyPr>
          <a:lstStyle/>
          <a:p>
            <a:pPr algn="l">
              <a:lnSpc>
                <a:spcPct val="115000"/>
              </a:lnSpc>
              <a:spcAft>
                <a:spcPts val="0"/>
              </a:spcAft>
            </a:pPr>
            <a:r>
              <a:rPr sz="1600" b="0" i="0">
                <a:solidFill>
                  <a:srgbClr val="EEDDDD"/>
                </a:solidFill>
                <a:latin typeface="Calibri"/>
              </a:rPr>
              <a:t>Tiếp tục thực hiện công nghiệp hóa, hiện đại hóa đất nước</a:t>
            </a:r>
          </a:p>
        </p:txBody>
      </p:sp>
      <p:sp>
        <p:nvSpPr>
          <p:cNvPr id="5" name="TextBox 4"/>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11/25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2.1 · BỐI CẢNH, THÔNG TIN ĐẠI HỘI &amp; ĐÁNH GIÁ THÁCH THỨC</a:t>
            </a:r>
          </a:p>
        </p:txBody>
      </p:sp>
      <p:sp>
        <p:nvSpPr>
          <p:cNvPr id="3" name="TextBox 2"/>
          <p:cNvSpPr txBox="1"/>
          <p:nvPr/>
        </p:nvSpPr>
        <p:spPr>
          <a:xfrm>
            <a:off x="640080" y="960120"/>
            <a:ext cx="10881360" cy="640080"/>
          </a:xfrm>
          <a:prstGeom prst="rect">
            <a:avLst/>
          </a:prstGeom>
          <a:noFill/>
        </p:spPr>
        <p:txBody>
          <a:bodyPr wrap="square" anchor="t" lIns="0" rIns="0" tIns="0" bIns="0">
            <a:spAutoFit/>
          </a:bodyPr>
          <a:lstStyle/>
          <a:p>
            <a:pPr algn="l">
              <a:lnSpc>
                <a:spcPct val="115000"/>
              </a:lnSpc>
              <a:spcAft>
                <a:spcPts val="0"/>
              </a:spcAft>
            </a:pPr>
            <a:r>
              <a:rPr sz="1900" b="1" i="0">
                <a:solidFill>
                  <a:srgbClr val="1A1210"/>
                </a:solidFill>
                <a:latin typeface="Georgia"/>
              </a:rPr>
              <a:t>Đại hội đại biểu toàn quốc lần thứ IX</a:t>
            </a:r>
          </a:p>
        </p:txBody>
      </p:sp>
      <p:sp>
        <p:nvSpPr>
          <p:cNvPr id="4" name="Rounded Rectangle 3"/>
          <p:cNvSpPr/>
          <p:nvPr/>
        </p:nvSpPr>
        <p:spPr>
          <a:xfrm>
            <a:off x="640080" y="1417320"/>
            <a:ext cx="2606040" cy="868680"/>
          </a:xfrm>
          <a:prstGeom prst="roundRect">
            <a:avLst>
              <a:gd name="adj" fmla="val 8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27048"/>
            <a:ext cx="2423160" cy="649224"/>
          </a:xfrm>
          <a:prstGeom prst="rect">
            <a:avLst/>
          </a:prstGeom>
          <a:noFill/>
        </p:spPr>
        <p:txBody>
          <a:bodyPr wrap="square" anchor="ctr" lIns="0" rIns="0" tIns="0" bIns="0">
            <a:spAutoFit/>
          </a:bodyPr>
          <a:lstStyle/>
          <a:p>
            <a:pPr algn="ctr">
              <a:lnSpc>
                <a:spcPct val="115000"/>
              </a:lnSpc>
              <a:spcAft>
                <a:spcPts val="400"/>
              </a:spcAft>
            </a:pPr>
            <a:r>
              <a:rPr sz="1600" b="1" i="0">
                <a:solidFill>
                  <a:srgbClr val="C8102E"/>
                </a:solidFill>
                <a:latin typeface="Georgia"/>
              </a:rPr>
              <a:t>19 – 22/4/2001</a:t>
            </a:r>
          </a:p>
          <a:p>
            <a:pPr algn="ctr">
              <a:lnSpc>
                <a:spcPct val="115000"/>
              </a:lnSpc>
              <a:spcAft>
                <a:spcPts val="0"/>
              </a:spcAft>
            </a:pPr>
            <a:r>
              <a:rPr sz="1050" b="0" i="0">
                <a:solidFill>
                  <a:srgbClr val="3A2A26"/>
                </a:solidFill>
                <a:latin typeface="Calibri"/>
              </a:rPr>
              <a:t>Thời gian, tại Hà Nội</a:t>
            </a:r>
          </a:p>
        </p:txBody>
      </p:sp>
      <p:sp>
        <p:nvSpPr>
          <p:cNvPr id="6" name="Rounded Rectangle 5"/>
          <p:cNvSpPr/>
          <p:nvPr/>
        </p:nvSpPr>
        <p:spPr>
          <a:xfrm>
            <a:off x="3364992" y="1417320"/>
            <a:ext cx="2606040" cy="868680"/>
          </a:xfrm>
          <a:prstGeom prst="roundRect">
            <a:avLst>
              <a:gd name="adj" fmla="val 8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56432" y="1527048"/>
            <a:ext cx="2423160" cy="649224"/>
          </a:xfrm>
          <a:prstGeom prst="rect">
            <a:avLst/>
          </a:prstGeom>
          <a:noFill/>
        </p:spPr>
        <p:txBody>
          <a:bodyPr wrap="square" anchor="ctr" lIns="0" rIns="0" tIns="0" bIns="0">
            <a:spAutoFit/>
          </a:bodyPr>
          <a:lstStyle/>
          <a:p>
            <a:pPr algn="ctr">
              <a:lnSpc>
                <a:spcPct val="115000"/>
              </a:lnSpc>
              <a:spcAft>
                <a:spcPts val="400"/>
              </a:spcAft>
            </a:pPr>
            <a:r>
              <a:rPr sz="1600" b="1" i="0">
                <a:solidFill>
                  <a:srgbClr val="C8102E"/>
                </a:solidFill>
                <a:latin typeface="Georgia"/>
              </a:rPr>
              <a:t>1.168</a:t>
            </a:r>
          </a:p>
          <a:p>
            <a:pPr algn="ctr">
              <a:lnSpc>
                <a:spcPct val="115000"/>
              </a:lnSpc>
              <a:spcAft>
                <a:spcPts val="0"/>
              </a:spcAft>
            </a:pPr>
            <a:r>
              <a:rPr sz="1050" b="0" i="0">
                <a:solidFill>
                  <a:srgbClr val="3A2A26"/>
                </a:solidFill>
                <a:latin typeface="Calibri"/>
              </a:rPr>
              <a:t>Đại biểu tham dự</a:t>
            </a:r>
          </a:p>
        </p:txBody>
      </p:sp>
      <p:sp>
        <p:nvSpPr>
          <p:cNvPr id="8" name="Rounded Rectangle 7"/>
          <p:cNvSpPr/>
          <p:nvPr/>
        </p:nvSpPr>
        <p:spPr>
          <a:xfrm>
            <a:off x="6089904" y="1417320"/>
            <a:ext cx="2606040" cy="868680"/>
          </a:xfrm>
          <a:prstGeom prst="roundRect">
            <a:avLst>
              <a:gd name="adj" fmla="val 8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81344" y="1527048"/>
            <a:ext cx="2423160" cy="649224"/>
          </a:xfrm>
          <a:prstGeom prst="rect">
            <a:avLst/>
          </a:prstGeom>
          <a:noFill/>
        </p:spPr>
        <p:txBody>
          <a:bodyPr wrap="square" anchor="ctr" lIns="0" rIns="0" tIns="0" bIns="0">
            <a:spAutoFit/>
          </a:bodyPr>
          <a:lstStyle/>
          <a:p>
            <a:pPr algn="ctr">
              <a:lnSpc>
                <a:spcPct val="115000"/>
              </a:lnSpc>
              <a:spcAft>
                <a:spcPts val="400"/>
              </a:spcAft>
            </a:pPr>
            <a:r>
              <a:rPr sz="1600" b="1" i="0">
                <a:solidFill>
                  <a:srgbClr val="C8102E"/>
                </a:solidFill>
                <a:latin typeface="Georgia"/>
              </a:rPr>
              <a:t>&gt;2,2 triệu</a:t>
            </a:r>
          </a:p>
          <a:p>
            <a:pPr algn="ctr">
              <a:lnSpc>
                <a:spcPct val="115000"/>
              </a:lnSpc>
              <a:spcAft>
                <a:spcPts val="0"/>
              </a:spcAft>
            </a:pPr>
            <a:r>
              <a:rPr sz="1050" b="0" i="0">
                <a:solidFill>
                  <a:srgbClr val="3A2A26"/>
                </a:solidFill>
                <a:latin typeface="Calibri"/>
              </a:rPr>
              <a:t>Đảng viên cả nước</a:t>
            </a:r>
          </a:p>
        </p:txBody>
      </p:sp>
      <p:sp>
        <p:nvSpPr>
          <p:cNvPr id="10" name="Rounded Rectangle 9"/>
          <p:cNvSpPr/>
          <p:nvPr/>
        </p:nvSpPr>
        <p:spPr>
          <a:xfrm>
            <a:off x="8814816" y="1417320"/>
            <a:ext cx="2606040" cy="868680"/>
          </a:xfrm>
          <a:prstGeom prst="roundRect">
            <a:avLst>
              <a:gd name="adj" fmla="val 8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06256" y="1527048"/>
            <a:ext cx="2423160" cy="649224"/>
          </a:xfrm>
          <a:prstGeom prst="rect">
            <a:avLst/>
          </a:prstGeom>
          <a:noFill/>
        </p:spPr>
        <p:txBody>
          <a:bodyPr wrap="square" anchor="ctr" lIns="0" rIns="0" tIns="0" bIns="0">
            <a:spAutoFit/>
          </a:bodyPr>
          <a:lstStyle/>
          <a:p>
            <a:pPr algn="ctr">
              <a:lnSpc>
                <a:spcPct val="115000"/>
              </a:lnSpc>
              <a:spcAft>
                <a:spcPts val="400"/>
              </a:spcAft>
            </a:pPr>
            <a:r>
              <a:rPr sz="1600" b="1" i="0">
                <a:solidFill>
                  <a:srgbClr val="C8102E"/>
                </a:solidFill>
                <a:latin typeface="Georgia"/>
              </a:rPr>
              <a:t>Nông Đức Mạnh</a:t>
            </a:r>
          </a:p>
          <a:p>
            <a:pPr algn="ctr">
              <a:lnSpc>
                <a:spcPct val="115000"/>
              </a:lnSpc>
              <a:spcAft>
                <a:spcPts val="0"/>
              </a:spcAft>
            </a:pPr>
            <a:r>
              <a:rPr sz="1050" b="0" i="0">
                <a:solidFill>
                  <a:srgbClr val="3A2A26"/>
                </a:solidFill>
                <a:latin typeface="Calibri"/>
              </a:rPr>
              <a:t>Tổng Bí thư</a:t>
            </a:r>
          </a:p>
        </p:txBody>
      </p:sp>
      <p:sp>
        <p:nvSpPr>
          <p:cNvPr id="12" name="TextBox 11"/>
          <p:cNvSpPr txBox="1"/>
          <p:nvPr/>
        </p:nvSpPr>
        <p:spPr>
          <a:xfrm>
            <a:off x="640080" y="2468880"/>
            <a:ext cx="10881360" cy="502920"/>
          </a:xfrm>
          <a:prstGeom prst="rect">
            <a:avLst/>
          </a:prstGeom>
          <a:noFill/>
        </p:spPr>
        <p:txBody>
          <a:bodyPr wrap="square" anchor="t" lIns="0" rIns="0" tIns="0" bIns="0">
            <a:spAutoFit/>
          </a:bodyPr>
          <a:lstStyle/>
          <a:p>
            <a:pPr>
              <a:lnSpc>
                <a:spcPct val="125000"/>
              </a:lnSpc>
            </a:pPr>
            <a:r>
              <a:rPr sz="1200" b="0">
                <a:solidFill>
                  <a:srgbClr val="3A2A26"/>
                </a:solidFill>
                <a:latin typeface="Calibri"/>
              </a:rPr>
              <a:t>BCH Trung ương khóa IX: </a:t>
            </a:r>
            <a:r>
              <a:rPr sz="1200" b="1">
                <a:solidFill>
                  <a:srgbClr val="8C0A1F"/>
                </a:solidFill>
                <a:latin typeface="Calibri"/>
              </a:rPr>
              <a:t>150</a:t>
            </a:r>
            <a:r>
              <a:rPr sz="1200" b="0">
                <a:solidFill>
                  <a:srgbClr val="3A2A26"/>
                </a:solidFill>
                <a:latin typeface="Calibri"/>
              </a:rPr>
              <a:t> ủy viên · Bộ Chính trị: </a:t>
            </a:r>
            <a:r>
              <a:rPr sz="1200" b="1">
                <a:solidFill>
                  <a:srgbClr val="8C0A1F"/>
                </a:solidFill>
                <a:latin typeface="Calibri"/>
              </a:rPr>
              <a:t>15</a:t>
            </a:r>
            <a:r>
              <a:rPr sz="1200" b="0">
                <a:solidFill>
                  <a:srgbClr val="3A2A26"/>
                </a:solidFill>
                <a:latin typeface="Calibri"/>
              </a:rPr>
              <a:t> đồng chí · Ban Bí thư: </a:t>
            </a:r>
            <a:r>
              <a:rPr sz="1200" b="1">
                <a:solidFill>
                  <a:srgbClr val="8C0A1F"/>
                </a:solidFill>
                <a:latin typeface="Calibri"/>
              </a:rPr>
              <a:t>9</a:t>
            </a:r>
            <a:r>
              <a:rPr sz="1200" b="0">
                <a:solidFill>
                  <a:srgbClr val="3A2A26"/>
                </a:solidFill>
                <a:latin typeface="Calibri"/>
              </a:rPr>
              <a:t> đồng chí. Đại hội mở đầu thế kỷ XXI — thời điểm cách mạng KH-CN, kinh tế tri thức, toàn cầu hóa diễn ra mạnh mẽ.</a:t>
            </a:r>
          </a:p>
        </p:txBody>
      </p:sp>
      <p:sp>
        <p:nvSpPr>
          <p:cNvPr id="13" name="Rectangle 12"/>
          <p:cNvSpPr/>
          <p:nvPr/>
        </p:nvSpPr>
        <p:spPr>
          <a:xfrm>
            <a:off x="640080" y="3108960"/>
            <a:ext cx="5257800" cy="50800"/>
          </a:xfrm>
          <a:prstGeom prst="rect">
            <a:avLst/>
          </a:prstGeom>
          <a:solidFill>
            <a:srgbClr val="2F8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3159760"/>
            <a:ext cx="5257800" cy="118364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3246120"/>
            <a:ext cx="4855464" cy="960120"/>
          </a:xfrm>
          <a:prstGeom prst="rect">
            <a:avLst/>
          </a:prstGeom>
          <a:noFill/>
        </p:spPr>
        <p:txBody>
          <a:bodyPr wrap="square" anchor="t" lIns="0" rIns="0" tIns="0" bIns="0">
            <a:spAutoFit/>
          </a:bodyPr>
          <a:lstStyle/>
          <a:p>
            <a:pPr algn="l">
              <a:lnSpc>
                <a:spcPct val="115000"/>
              </a:lnSpc>
              <a:spcAft>
                <a:spcPts val="600"/>
              </a:spcAft>
            </a:pPr>
            <a:r>
              <a:rPr sz="1450" b="1" i="0">
                <a:solidFill>
                  <a:srgbClr val="8C0A1F"/>
                </a:solidFill>
                <a:latin typeface="Georgia"/>
              </a:rPr>
              <a:t>Thành tựu</a:t>
            </a:r>
          </a:p>
          <a:p>
            <a:pPr>
              <a:lnSpc>
                <a:spcPct val="125000"/>
              </a:lnSpc>
            </a:pPr>
            <a:r>
              <a:rPr sz="1200" b="0">
                <a:solidFill>
                  <a:srgbClr val="3A2A26"/>
                </a:solidFill>
                <a:latin typeface="Calibri"/>
              </a:rPr>
              <a:t>Sau 15 năm đổi mới, Việt Nam đạt nhiều thành tựu quan trọng, tạo </a:t>
            </a:r>
            <a:r>
              <a:rPr sz="1200" b="1">
                <a:solidFill>
                  <a:srgbClr val="1A1210"/>
                </a:solidFill>
                <a:latin typeface="Calibri"/>
              </a:rPr>
              <a:t>thế và lực mới</a:t>
            </a:r>
            <a:r>
              <a:rPr sz="1200" b="0">
                <a:solidFill>
                  <a:srgbClr val="3A2A26"/>
                </a:solidFill>
                <a:latin typeface="Calibri"/>
              </a:rPr>
              <a:t>.</a:t>
            </a:r>
          </a:p>
        </p:txBody>
      </p:sp>
      <p:sp>
        <p:nvSpPr>
          <p:cNvPr id="16" name="Rectangle 15"/>
          <p:cNvSpPr/>
          <p:nvPr/>
        </p:nvSpPr>
        <p:spPr>
          <a:xfrm>
            <a:off x="6263640" y="3108960"/>
            <a:ext cx="5257800" cy="508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3159760"/>
            <a:ext cx="5257800" cy="118364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4808" y="3246120"/>
            <a:ext cx="4855464" cy="960120"/>
          </a:xfrm>
          <a:prstGeom prst="rect">
            <a:avLst/>
          </a:prstGeom>
          <a:noFill/>
        </p:spPr>
        <p:txBody>
          <a:bodyPr wrap="square" anchor="t" lIns="0" rIns="0" tIns="0" bIns="0">
            <a:spAutoFit/>
          </a:bodyPr>
          <a:lstStyle/>
          <a:p>
            <a:pPr algn="l">
              <a:lnSpc>
                <a:spcPct val="115000"/>
              </a:lnSpc>
              <a:spcAft>
                <a:spcPts val="600"/>
              </a:spcAft>
            </a:pPr>
            <a:r>
              <a:rPr sz="1450" b="1" i="0">
                <a:solidFill>
                  <a:srgbClr val="8C0A1F"/>
                </a:solidFill>
                <a:latin typeface="Georgia"/>
              </a:rPr>
              <a:t>Hạn chế</a:t>
            </a:r>
          </a:p>
          <a:p>
            <a:pPr>
              <a:lnSpc>
                <a:spcPct val="125000"/>
              </a:lnSpc>
            </a:pPr>
            <a:r>
              <a:rPr sz="1200" b="0">
                <a:solidFill>
                  <a:srgbClr val="3A2A26"/>
                </a:solidFill>
                <a:latin typeface="Calibri"/>
              </a:rPr>
              <a:t>Kinh tế phát triển </a:t>
            </a:r>
            <a:r>
              <a:rPr sz="1200" b="1">
                <a:solidFill>
                  <a:srgbClr val="1A1210"/>
                </a:solidFill>
                <a:latin typeface="Calibri"/>
              </a:rPr>
              <a:t>chưa vững chắc</a:t>
            </a:r>
            <a:r>
              <a:rPr sz="1200" b="0">
                <a:solidFill>
                  <a:srgbClr val="3A2A26"/>
                </a:solidFill>
                <a:latin typeface="Calibri"/>
              </a:rPr>
              <a:t>, hiệu quả và sức cạnh tranh thấp. Chỉ tiêu tăng trưởng 9–10% (Đại hội VIII đề ra) </a:t>
            </a:r>
            <a:r>
              <a:rPr sz="1200" b="1">
                <a:solidFill>
                  <a:srgbClr val="1A1210"/>
                </a:solidFill>
                <a:latin typeface="Calibri"/>
              </a:rPr>
              <a:t>không đạt</a:t>
            </a:r>
            <a:r>
              <a:rPr sz="1200" b="0">
                <a:solidFill>
                  <a:srgbClr val="3A2A26"/>
                </a:solidFill>
                <a:latin typeface="Calibri"/>
              </a:rPr>
              <a:t>.</a:t>
            </a:r>
          </a:p>
        </p:txBody>
      </p:sp>
      <p:sp>
        <p:nvSpPr>
          <p:cNvPr id="19" name="Rounded Rectangle 18"/>
          <p:cNvSpPr/>
          <p:nvPr/>
        </p:nvSpPr>
        <p:spPr>
          <a:xfrm>
            <a:off x="640080" y="4526280"/>
            <a:ext cx="10881360" cy="868680"/>
          </a:xfrm>
          <a:prstGeom prst="roundRect">
            <a:avLst>
              <a:gd name="adj" fmla="val 10000"/>
            </a:avLst>
          </a:prstGeom>
          <a:solidFill>
            <a:srgbClr val="FC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617720"/>
            <a:ext cx="1188720" cy="685800"/>
          </a:xfrm>
          <a:prstGeom prst="rect">
            <a:avLst/>
          </a:prstGeom>
          <a:noFill/>
        </p:spPr>
        <p:txBody>
          <a:bodyPr wrap="square" anchor="t" lIns="0" rIns="0" tIns="0" bIns="0">
            <a:spAutoFit/>
          </a:bodyPr>
          <a:lstStyle/>
          <a:p>
            <a:pPr algn="l">
              <a:lnSpc>
                <a:spcPct val="115000"/>
              </a:lnSpc>
              <a:spcAft>
                <a:spcPts val="0"/>
              </a:spcAft>
            </a:pPr>
            <a:r>
              <a:rPr sz="950" b="1" i="0">
                <a:solidFill>
                  <a:srgbClr val="FFFFFF"/>
                </a:solidFill>
                <a:latin typeface="Calibri"/>
              </a:rPr>
              <a:t>LƯU Ý</a:t>
            </a:r>
          </a:p>
        </p:txBody>
      </p:sp>
      <p:sp>
        <p:nvSpPr>
          <p:cNvPr id="21" name="Rounded Rectangle 20"/>
          <p:cNvSpPr/>
          <p:nvPr/>
        </p:nvSpPr>
        <p:spPr>
          <a:xfrm>
            <a:off x="804672" y="4617720"/>
            <a:ext cx="1051560" cy="274320"/>
          </a:xfrm>
          <a:prstGeom prst="roundRect">
            <a:avLst>
              <a:gd name="adj" fmla="val 4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4617720"/>
            <a:ext cx="1051560" cy="274320"/>
          </a:xfrm>
          <a:prstGeom prst="rect">
            <a:avLst/>
          </a:prstGeom>
          <a:noFill/>
        </p:spPr>
        <p:txBody>
          <a:bodyPr wrap="square" anchor="ctr" lIns="0" rIns="0" tIns="0" bIns="0">
            <a:spAutoFit/>
          </a:bodyPr>
          <a:lstStyle/>
          <a:p>
            <a:pPr algn="ctr">
              <a:lnSpc>
                <a:spcPct val="115000"/>
              </a:lnSpc>
              <a:spcAft>
                <a:spcPts val="0"/>
              </a:spcAft>
            </a:pPr>
            <a:r>
              <a:rPr sz="950" b="1" i="0">
                <a:solidFill>
                  <a:srgbClr val="FFFFFF"/>
                </a:solidFill>
                <a:latin typeface="Calibri"/>
              </a:rPr>
              <a:t>LƯU Ý</a:t>
            </a:r>
          </a:p>
        </p:txBody>
      </p:sp>
      <p:sp>
        <p:nvSpPr>
          <p:cNvPr id="23" name="TextBox 22"/>
          <p:cNvSpPr txBox="1"/>
          <p:nvPr/>
        </p:nvSpPr>
        <p:spPr>
          <a:xfrm>
            <a:off x="2011680" y="4599432"/>
            <a:ext cx="9281160" cy="722376"/>
          </a:xfrm>
          <a:prstGeom prst="rect">
            <a:avLst/>
          </a:prstGeom>
          <a:noFill/>
        </p:spPr>
        <p:txBody>
          <a:bodyPr wrap="square" anchor="ctr" lIns="0" rIns="0" tIns="0" bIns="0">
            <a:spAutoFit/>
          </a:bodyPr>
          <a:lstStyle/>
          <a:p>
            <a:pPr>
              <a:lnSpc>
                <a:spcPct val="125000"/>
              </a:lnSpc>
            </a:pPr>
            <a:r>
              <a:rPr sz="1200" b="0">
                <a:solidFill>
                  <a:srgbClr val="3A2A26"/>
                </a:solidFill>
                <a:latin typeface="Calibri"/>
              </a:rPr>
              <a:t>Các nguy cơ mà Hội nghị đại biểu toàn quốc giữa nhiệm kỳ (khóa VII – 1994) nêu ra vẫn là những </a:t>
            </a:r>
            <a:r>
              <a:rPr sz="1200" b="1">
                <a:solidFill>
                  <a:srgbClr val="8C0A1F"/>
                </a:solidFill>
                <a:latin typeface="Calibri"/>
              </a:rPr>
              <a:t>thách thức lớn</a:t>
            </a:r>
            <a:r>
              <a:rPr sz="1200" b="0">
                <a:solidFill>
                  <a:srgbClr val="3A2A26"/>
                </a:solidFill>
                <a:latin typeface="Calibri"/>
              </a:rPr>
              <a:t> của cách mạng nước ta.</a:t>
            </a:r>
          </a:p>
        </p:txBody>
      </p:sp>
      <p:sp>
        <p:nvSpPr>
          <p:cNvPr id="24" name="TextBox 23"/>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12/25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2.2 · MỤC TIÊU CHIẾN LƯỢC (2001 – 2010) &amp; KẾ THỪA BÀI HỌC LỊCH SỬ</a:t>
            </a:r>
          </a:p>
        </p:txBody>
      </p:sp>
      <p:sp>
        <p:nvSpPr>
          <p:cNvPr id="3" name="TextBox 2"/>
          <p:cNvSpPr txBox="1"/>
          <p:nvPr/>
        </p:nvSpPr>
        <p:spPr>
          <a:xfrm>
            <a:off x="640080" y="960120"/>
            <a:ext cx="10881360" cy="640080"/>
          </a:xfrm>
          <a:prstGeom prst="rect">
            <a:avLst/>
          </a:prstGeom>
          <a:noFill/>
        </p:spPr>
        <p:txBody>
          <a:bodyPr wrap="square" anchor="t" lIns="0" rIns="0" tIns="0" bIns="0">
            <a:spAutoFit/>
          </a:bodyPr>
          <a:lstStyle/>
          <a:p>
            <a:pPr algn="l">
              <a:lnSpc>
                <a:spcPct val="115000"/>
              </a:lnSpc>
              <a:spcAft>
                <a:spcPts val="0"/>
              </a:spcAft>
            </a:pPr>
            <a:r>
              <a:rPr sz="1800" b="1" i="0">
                <a:solidFill>
                  <a:srgbClr val="1A1210"/>
                </a:solidFill>
                <a:latin typeface="Georgia"/>
              </a:rPr>
              <a:t>Chiến lược phát triển kinh tế – xã hội 10 năm</a:t>
            </a:r>
          </a:p>
        </p:txBody>
      </p:sp>
      <p:sp>
        <p:nvSpPr>
          <p:cNvPr id="4" name="Rectangle 3"/>
          <p:cNvSpPr/>
          <p:nvPr/>
        </p:nvSpPr>
        <p:spPr>
          <a:xfrm>
            <a:off x="640080" y="1417320"/>
            <a:ext cx="50800" cy="10515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90880" y="1417320"/>
            <a:ext cx="10830560" cy="1051560"/>
          </a:xfrm>
          <a:prstGeom prst="rect">
            <a:avLst/>
          </a:prstGeom>
          <a:solidFill>
            <a:srgbClr val="FC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27048"/>
            <a:ext cx="10378440" cy="832104"/>
          </a:xfrm>
          <a:prstGeom prst="rect">
            <a:avLst/>
          </a:prstGeom>
          <a:noFill/>
        </p:spPr>
        <p:txBody>
          <a:bodyPr wrap="square" anchor="ctr" lIns="0" rIns="0" tIns="0" bIns="0">
            <a:spAutoFit/>
          </a:bodyPr>
          <a:lstStyle/>
          <a:p>
            <a:pPr>
              <a:lnSpc>
                <a:spcPct val="130000"/>
              </a:lnSpc>
            </a:pPr>
            <a:r>
              <a:rPr sz="1350" b="0">
                <a:solidFill>
                  <a:srgbClr val="1A1210"/>
                </a:solidFill>
                <a:latin typeface="Calibri"/>
              </a:rPr>
              <a:t>Đưa nước ta </a:t>
            </a:r>
            <a:r>
              <a:rPr sz="1350" b="1">
                <a:solidFill>
                  <a:srgbClr val="8C0A1F"/>
                </a:solidFill>
                <a:latin typeface="Calibri"/>
              </a:rPr>
              <a:t>ra khỏi tình trạng kém phát triển</a:t>
            </a:r>
            <a:r>
              <a:rPr sz="1350" b="0">
                <a:solidFill>
                  <a:srgbClr val="1A1210"/>
                </a:solidFill>
                <a:latin typeface="Calibri"/>
              </a:rPr>
              <a:t>; tạo nền tảng để đến năm 2020 nước ta cơ bản trở thành </a:t>
            </a:r>
            <a:r>
              <a:rPr sz="1350" b="1">
                <a:solidFill>
                  <a:srgbClr val="8C0A1F"/>
                </a:solidFill>
                <a:latin typeface="Calibri"/>
              </a:rPr>
              <a:t>một nước công nghiệp theo hướng hiện đại</a:t>
            </a:r>
            <a:r>
              <a:rPr sz="1350" b="0">
                <a:solidFill>
                  <a:srgbClr val="1A1210"/>
                </a:solidFill>
                <a:latin typeface="Calibri"/>
              </a:rPr>
              <a:t>; đưa GDP năm 2010 lên </a:t>
            </a:r>
            <a:r>
              <a:rPr sz="1350" b="1">
                <a:solidFill>
                  <a:srgbClr val="8C0A1F"/>
                </a:solidFill>
                <a:latin typeface="Calibri"/>
              </a:rPr>
              <a:t>gấp đôi</a:t>
            </a:r>
            <a:r>
              <a:rPr sz="1350" b="0">
                <a:solidFill>
                  <a:srgbClr val="1A1210"/>
                </a:solidFill>
                <a:latin typeface="Calibri"/>
              </a:rPr>
              <a:t> so với năm 2000.</a:t>
            </a:r>
          </a:p>
        </p:txBody>
      </p:sp>
      <p:sp>
        <p:nvSpPr>
          <p:cNvPr id="7" name="Rounded Rectangle 6"/>
          <p:cNvSpPr/>
          <p:nvPr/>
        </p:nvSpPr>
        <p:spPr>
          <a:xfrm>
            <a:off x="640080" y="2606040"/>
            <a:ext cx="10881360" cy="777240"/>
          </a:xfrm>
          <a:prstGeom prst="roundRect">
            <a:avLst>
              <a:gd name="adj" fmla="val 10000"/>
            </a:avLst>
          </a:prstGeom>
          <a:solidFill>
            <a:srgbClr val="FDF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697480"/>
            <a:ext cx="1188720" cy="594360"/>
          </a:xfrm>
          <a:prstGeom prst="rect">
            <a:avLst/>
          </a:prstGeom>
          <a:noFill/>
        </p:spPr>
        <p:txBody>
          <a:bodyPr wrap="square" anchor="t" lIns="0" rIns="0" tIns="0" bIns="0">
            <a:spAutoFit/>
          </a:bodyPr>
          <a:lstStyle/>
          <a:p>
            <a:pPr algn="l">
              <a:lnSpc>
                <a:spcPct val="115000"/>
              </a:lnSpc>
              <a:spcAft>
                <a:spcPts val="0"/>
              </a:spcAft>
            </a:pPr>
            <a:r>
              <a:rPr sz="950" b="1" i="0">
                <a:solidFill>
                  <a:srgbClr val="FFFFFF"/>
                </a:solidFill>
                <a:latin typeface="Calibri"/>
              </a:rPr>
              <a:t>KẾT QUẢ TRƯỚC ĐÓ</a:t>
            </a:r>
          </a:p>
        </p:txBody>
      </p:sp>
      <p:sp>
        <p:nvSpPr>
          <p:cNvPr id="9" name="Rounded Rectangle 8"/>
          <p:cNvSpPr/>
          <p:nvPr/>
        </p:nvSpPr>
        <p:spPr>
          <a:xfrm>
            <a:off x="804672" y="2697480"/>
            <a:ext cx="1051560" cy="274320"/>
          </a:xfrm>
          <a:prstGeom prst="roundRect">
            <a:avLst>
              <a:gd name="adj" fmla="val 4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697480"/>
            <a:ext cx="1051560" cy="274320"/>
          </a:xfrm>
          <a:prstGeom prst="rect">
            <a:avLst/>
          </a:prstGeom>
          <a:noFill/>
        </p:spPr>
        <p:txBody>
          <a:bodyPr wrap="square" anchor="ctr" lIns="0" rIns="0" tIns="0" bIns="0">
            <a:spAutoFit/>
          </a:bodyPr>
          <a:lstStyle/>
          <a:p>
            <a:pPr algn="ctr">
              <a:lnSpc>
                <a:spcPct val="115000"/>
              </a:lnSpc>
              <a:spcAft>
                <a:spcPts val="0"/>
              </a:spcAft>
            </a:pPr>
            <a:r>
              <a:rPr sz="950" b="1" i="0">
                <a:solidFill>
                  <a:srgbClr val="FFFFFF"/>
                </a:solidFill>
                <a:latin typeface="Calibri"/>
              </a:rPr>
              <a:t>KẾT QUẢ TRƯỚC ĐÓ</a:t>
            </a:r>
          </a:p>
        </p:txBody>
      </p:sp>
      <p:sp>
        <p:nvSpPr>
          <p:cNvPr id="11" name="TextBox 10"/>
          <p:cNvSpPr txBox="1"/>
          <p:nvPr/>
        </p:nvSpPr>
        <p:spPr>
          <a:xfrm>
            <a:off x="2011680" y="2679192"/>
            <a:ext cx="9281160" cy="630936"/>
          </a:xfrm>
          <a:prstGeom prst="rect">
            <a:avLst/>
          </a:prstGeom>
          <a:noFill/>
        </p:spPr>
        <p:txBody>
          <a:bodyPr wrap="square" anchor="ctr" lIns="0" rIns="0" tIns="0" bIns="0">
            <a:spAutoFit/>
          </a:bodyPr>
          <a:lstStyle/>
          <a:p>
            <a:pPr>
              <a:lnSpc>
                <a:spcPct val="125000"/>
              </a:lnSpc>
            </a:pPr>
            <a:r>
              <a:rPr sz="1200" b="0">
                <a:solidFill>
                  <a:srgbClr val="3A2A26"/>
                </a:solidFill>
                <a:latin typeface="Calibri"/>
              </a:rPr>
              <a:t>Chiến lược ổn định và phát triển KT-XH đến năm 2000 đã đưa GDP năm 2000 tăng </a:t>
            </a:r>
            <a:r>
              <a:rPr sz="1200" b="1">
                <a:solidFill>
                  <a:srgbClr val="8C0A1F"/>
                </a:solidFill>
                <a:latin typeface="Calibri"/>
              </a:rPr>
              <a:t>hơn gấp đôi</a:t>
            </a:r>
            <a:r>
              <a:rPr sz="1200" b="0">
                <a:solidFill>
                  <a:srgbClr val="3A2A26"/>
                </a:solidFill>
                <a:latin typeface="Calibri"/>
              </a:rPr>
              <a:t> so với năm 1990.</a:t>
            </a:r>
          </a:p>
        </p:txBody>
      </p:sp>
      <p:sp>
        <p:nvSpPr>
          <p:cNvPr id="12" name="TextBox 11"/>
          <p:cNvSpPr txBox="1"/>
          <p:nvPr/>
        </p:nvSpPr>
        <p:spPr>
          <a:xfrm>
            <a:off x="640080" y="3520440"/>
            <a:ext cx="10881360" cy="365760"/>
          </a:xfrm>
          <a:prstGeom prst="rect">
            <a:avLst/>
          </a:prstGeom>
          <a:noFill/>
        </p:spPr>
        <p:txBody>
          <a:bodyPr wrap="square" anchor="t" lIns="0" rIns="0" tIns="0" bIns="0">
            <a:spAutoFit/>
          </a:bodyPr>
          <a:lstStyle/>
          <a:p>
            <a:pPr algn="l">
              <a:lnSpc>
                <a:spcPct val="115000"/>
              </a:lnSpc>
              <a:spcAft>
                <a:spcPts val="0"/>
              </a:spcAft>
            </a:pPr>
            <a:r>
              <a:rPr sz="1300" b="0" i="0">
                <a:solidFill>
                  <a:srgbClr val="3A2A26"/>
                </a:solidFill>
                <a:latin typeface="Calibri"/>
              </a:rPr>
              <a:t>Những bài học đổi mới từ Đại hội VI, VII, VIII vẫn còn giá trị lớn, nhất là:</a:t>
            </a:r>
          </a:p>
        </p:txBody>
      </p:sp>
      <p:sp>
        <p:nvSpPr>
          <p:cNvPr id="13" name="Rounded Rectangle 12"/>
          <p:cNvSpPr/>
          <p:nvPr/>
        </p:nvSpPr>
        <p:spPr>
          <a:xfrm>
            <a:off x="640080" y="3977639"/>
            <a:ext cx="5257800" cy="105156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77240" y="4114799"/>
            <a:ext cx="320040" cy="320040"/>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114799"/>
            <a:ext cx="320040" cy="320040"/>
          </a:xfrm>
          <a:prstGeom prst="rect">
            <a:avLst/>
          </a:prstGeom>
          <a:noFill/>
        </p:spPr>
        <p:txBody>
          <a:bodyPr wrap="square" anchor="ctr" lIns="0" rIns="0" tIns="0" bIns="0">
            <a:spAutoFit/>
          </a:bodyPr>
          <a:lstStyle/>
          <a:p>
            <a:pPr algn="ctr">
              <a:lnSpc>
                <a:spcPct val="115000"/>
              </a:lnSpc>
              <a:spcAft>
                <a:spcPts val="0"/>
              </a:spcAft>
            </a:pPr>
            <a:r>
              <a:rPr sz="1200" b="1" i="0">
                <a:solidFill>
                  <a:srgbClr val="FFFFFF"/>
                </a:solidFill>
                <a:latin typeface="Calibri"/>
              </a:rPr>
              <a:t>1</a:t>
            </a:r>
          </a:p>
        </p:txBody>
      </p:sp>
      <p:sp>
        <p:nvSpPr>
          <p:cNvPr id="16" name="TextBox 15"/>
          <p:cNvSpPr txBox="1"/>
          <p:nvPr/>
        </p:nvSpPr>
        <p:spPr>
          <a:xfrm>
            <a:off x="1188720" y="4069079"/>
            <a:ext cx="4572000" cy="868680"/>
          </a:xfrm>
          <a:prstGeom prst="rect">
            <a:avLst/>
          </a:prstGeom>
          <a:noFill/>
        </p:spPr>
        <p:txBody>
          <a:bodyPr wrap="square" anchor="t" lIns="0" rIns="0" tIns="0" bIns="0">
            <a:spAutoFit/>
          </a:bodyPr>
          <a:lstStyle/>
          <a:p>
            <a:pPr algn="l">
              <a:lnSpc>
                <a:spcPct val="120000"/>
              </a:lnSpc>
              <a:spcAft>
                <a:spcPts val="0"/>
              </a:spcAft>
            </a:pPr>
            <a:r>
              <a:rPr sz="1050" b="0" i="0">
                <a:solidFill>
                  <a:srgbClr val="3A2A26"/>
                </a:solidFill>
                <a:latin typeface="Calibri"/>
              </a:rPr>
              <a:t>Trong quá trình đổi mới phải kiên trì mục tiêu độc lập dân tộc và chủ nghĩa xã hội trên nền tảng chủ nghĩa Mác – Lênin và tư tưởng Hồ Chí Minh.</a:t>
            </a:r>
          </a:p>
        </p:txBody>
      </p:sp>
      <p:sp>
        <p:nvSpPr>
          <p:cNvPr id="17" name="Rounded Rectangle 16"/>
          <p:cNvSpPr/>
          <p:nvPr/>
        </p:nvSpPr>
        <p:spPr>
          <a:xfrm>
            <a:off x="6217920" y="3977639"/>
            <a:ext cx="5257800" cy="105156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55080" y="4114799"/>
            <a:ext cx="320040" cy="320040"/>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114799"/>
            <a:ext cx="320040" cy="320040"/>
          </a:xfrm>
          <a:prstGeom prst="rect">
            <a:avLst/>
          </a:prstGeom>
          <a:noFill/>
        </p:spPr>
        <p:txBody>
          <a:bodyPr wrap="square" anchor="ctr" lIns="0" rIns="0" tIns="0" bIns="0">
            <a:spAutoFit/>
          </a:bodyPr>
          <a:lstStyle/>
          <a:p>
            <a:pPr algn="ctr">
              <a:lnSpc>
                <a:spcPct val="115000"/>
              </a:lnSpc>
              <a:spcAft>
                <a:spcPts val="0"/>
              </a:spcAft>
            </a:pPr>
            <a:r>
              <a:rPr sz="1200" b="1" i="0">
                <a:solidFill>
                  <a:srgbClr val="FFFFFF"/>
                </a:solidFill>
                <a:latin typeface="Calibri"/>
              </a:rPr>
              <a:t>2</a:t>
            </a:r>
          </a:p>
        </p:txBody>
      </p:sp>
      <p:sp>
        <p:nvSpPr>
          <p:cNvPr id="20" name="TextBox 19"/>
          <p:cNvSpPr txBox="1"/>
          <p:nvPr/>
        </p:nvSpPr>
        <p:spPr>
          <a:xfrm>
            <a:off x="6766560" y="4069079"/>
            <a:ext cx="4572000" cy="868680"/>
          </a:xfrm>
          <a:prstGeom prst="rect">
            <a:avLst/>
          </a:prstGeom>
          <a:noFill/>
        </p:spPr>
        <p:txBody>
          <a:bodyPr wrap="square" anchor="t" lIns="0" rIns="0" tIns="0" bIns="0">
            <a:spAutoFit/>
          </a:bodyPr>
          <a:lstStyle/>
          <a:p>
            <a:pPr algn="l">
              <a:lnSpc>
                <a:spcPct val="120000"/>
              </a:lnSpc>
              <a:spcAft>
                <a:spcPts val="0"/>
              </a:spcAft>
            </a:pPr>
            <a:r>
              <a:rPr sz="1050" b="0" i="0">
                <a:solidFill>
                  <a:srgbClr val="3A2A26"/>
                </a:solidFill>
                <a:latin typeface="Calibri"/>
              </a:rPr>
              <a:t>Đổi mới phải dựa vào nhân dân, vì lợi ích của nhân dân, phù hợp với thực tiễn, luôn luôn sáng tạo.</a:t>
            </a:r>
          </a:p>
        </p:txBody>
      </p:sp>
      <p:sp>
        <p:nvSpPr>
          <p:cNvPr id="21" name="Rounded Rectangle 20"/>
          <p:cNvSpPr/>
          <p:nvPr/>
        </p:nvSpPr>
        <p:spPr>
          <a:xfrm>
            <a:off x="640080" y="5166359"/>
            <a:ext cx="5257800" cy="105156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77240" y="5303519"/>
            <a:ext cx="320040" cy="320040"/>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303519"/>
            <a:ext cx="320040" cy="320040"/>
          </a:xfrm>
          <a:prstGeom prst="rect">
            <a:avLst/>
          </a:prstGeom>
          <a:noFill/>
        </p:spPr>
        <p:txBody>
          <a:bodyPr wrap="square" anchor="ctr" lIns="0" rIns="0" tIns="0" bIns="0">
            <a:spAutoFit/>
          </a:bodyPr>
          <a:lstStyle/>
          <a:p>
            <a:pPr algn="ctr">
              <a:lnSpc>
                <a:spcPct val="115000"/>
              </a:lnSpc>
              <a:spcAft>
                <a:spcPts val="0"/>
              </a:spcAft>
            </a:pPr>
            <a:r>
              <a:rPr sz="1200" b="1" i="0">
                <a:solidFill>
                  <a:srgbClr val="FFFFFF"/>
                </a:solidFill>
                <a:latin typeface="Calibri"/>
              </a:rPr>
              <a:t>3</a:t>
            </a:r>
          </a:p>
        </p:txBody>
      </p:sp>
      <p:sp>
        <p:nvSpPr>
          <p:cNvPr id="24" name="TextBox 23"/>
          <p:cNvSpPr txBox="1"/>
          <p:nvPr/>
        </p:nvSpPr>
        <p:spPr>
          <a:xfrm>
            <a:off x="1188720" y="5257799"/>
            <a:ext cx="4572000" cy="868680"/>
          </a:xfrm>
          <a:prstGeom prst="rect">
            <a:avLst/>
          </a:prstGeom>
          <a:noFill/>
        </p:spPr>
        <p:txBody>
          <a:bodyPr wrap="square" anchor="t" lIns="0" rIns="0" tIns="0" bIns="0">
            <a:spAutoFit/>
          </a:bodyPr>
          <a:lstStyle/>
          <a:p>
            <a:pPr algn="l">
              <a:lnSpc>
                <a:spcPct val="120000"/>
              </a:lnSpc>
              <a:spcAft>
                <a:spcPts val="0"/>
              </a:spcAft>
            </a:pPr>
            <a:r>
              <a:rPr sz="1050" b="0" i="0">
                <a:solidFill>
                  <a:srgbClr val="3A2A26"/>
                </a:solidFill>
                <a:latin typeface="Calibri"/>
              </a:rPr>
              <a:t>Đổi mới phải kết hợp sức mạnh dân tộc với sức mạnh thời đại.</a:t>
            </a:r>
          </a:p>
        </p:txBody>
      </p:sp>
      <p:sp>
        <p:nvSpPr>
          <p:cNvPr id="25" name="Rounded Rectangle 24"/>
          <p:cNvSpPr/>
          <p:nvPr/>
        </p:nvSpPr>
        <p:spPr>
          <a:xfrm>
            <a:off x="6217920" y="5166359"/>
            <a:ext cx="5257800" cy="105156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355080" y="5303519"/>
            <a:ext cx="320040" cy="320040"/>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5303519"/>
            <a:ext cx="320040" cy="320040"/>
          </a:xfrm>
          <a:prstGeom prst="rect">
            <a:avLst/>
          </a:prstGeom>
          <a:noFill/>
        </p:spPr>
        <p:txBody>
          <a:bodyPr wrap="square" anchor="ctr" lIns="0" rIns="0" tIns="0" bIns="0">
            <a:spAutoFit/>
          </a:bodyPr>
          <a:lstStyle/>
          <a:p>
            <a:pPr algn="ctr">
              <a:lnSpc>
                <a:spcPct val="115000"/>
              </a:lnSpc>
              <a:spcAft>
                <a:spcPts val="0"/>
              </a:spcAft>
            </a:pPr>
            <a:r>
              <a:rPr sz="1200" b="1" i="0">
                <a:solidFill>
                  <a:srgbClr val="FFFFFF"/>
                </a:solidFill>
                <a:latin typeface="Calibri"/>
              </a:rPr>
              <a:t>4</a:t>
            </a:r>
          </a:p>
        </p:txBody>
      </p:sp>
      <p:sp>
        <p:nvSpPr>
          <p:cNvPr id="28" name="TextBox 27"/>
          <p:cNvSpPr txBox="1"/>
          <p:nvPr/>
        </p:nvSpPr>
        <p:spPr>
          <a:xfrm>
            <a:off x="6766560" y="5257799"/>
            <a:ext cx="4572000" cy="868680"/>
          </a:xfrm>
          <a:prstGeom prst="rect">
            <a:avLst/>
          </a:prstGeom>
          <a:noFill/>
        </p:spPr>
        <p:txBody>
          <a:bodyPr wrap="square" anchor="t" lIns="0" rIns="0" tIns="0" bIns="0">
            <a:spAutoFit/>
          </a:bodyPr>
          <a:lstStyle/>
          <a:p>
            <a:pPr algn="l">
              <a:lnSpc>
                <a:spcPct val="120000"/>
              </a:lnSpc>
              <a:spcAft>
                <a:spcPts val="0"/>
              </a:spcAft>
            </a:pPr>
            <a:r>
              <a:rPr sz="1050" b="0" i="0">
                <a:solidFill>
                  <a:srgbClr val="3A2A26"/>
                </a:solidFill>
                <a:latin typeface="Calibri"/>
              </a:rPr>
              <a:t>Đường lối đúng đắn của Đảng là nhân tố quyết định thành công của sự nghiệp đổi mới.</a:t>
            </a:r>
          </a:p>
        </p:txBody>
      </p:sp>
      <p:sp>
        <p:nvSpPr>
          <p:cNvPr id="29" name="TextBox 28"/>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13/25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2.3 · NHỮNG BƯỚC ĐỘT PHÁ VỀ LÝ LUẬN NỀN TẢNG (1/2)</a:t>
            </a:r>
          </a:p>
        </p:txBody>
      </p:sp>
      <p:sp>
        <p:nvSpPr>
          <p:cNvPr id="3" name="Rectangle 2"/>
          <p:cNvSpPr/>
          <p:nvPr/>
        </p:nvSpPr>
        <p:spPr>
          <a:xfrm>
            <a:off x="640080" y="1051560"/>
            <a:ext cx="50800" cy="12801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90880" y="1051560"/>
            <a:ext cx="10830560" cy="128016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143000"/>
            <a:ext cx="10515600" cy="1097280"/>
          </a:xfrm>
          <a:prstGeom prst="rect">
            <a:avLst/>
          </a:prstGeom>
          <a:noFill/>
        </p:spPr>
        <p:txBody>
          <a:bodyPr wrap="square" anchor="t" lIns="0" rIns="0" tIns="0" bIns="0">
            <a:spAutoFit/>
          </a:bodyPr>
          <a:lstStyle/>
          <a:p>
            <a:pPr algn="l">
              <a:lnSpc>
                <a:spcPct val="115000"/>
              </a:lnSpc>
              <a:spcAft>
                <a:spcPts val="400"/>
              </a:spcAft>
            </a:pPr>
            <a:r>
              <a:rPr sz="1400" b="1" i="0">
                <a:solidFill>
                  <a:srgbClr val="1A1210"/>
                </a:solidFill>
                <a:latin typeface="Georgia"/>
              </a:rPr>
              <a:t>Nền tảng tư tưởng dẫn đường</a:t>
            </a:r>
          </a:p>
          <a:p>
            <a:pPr>
              <a:lnSpc>
                <a:spcPct val="120000"/>
              </a:lnSpc>
            </a:pPr>
            <a:r>
              <a:rPr sz="1250" b="0">
                <a:solidFill>
                  <a:srgbClr val="3A2A26"/>
                </a:solidFill>
                <a:latin typeface="Calibri"/>
              </a:rPr>
              <a:t>Đảng lấy </a:t>
            </a:r>
            <a:r>
              <a:rPr sz="1250" b="1">
                <a:solidFill>
                  <a:srgbClr val="8C0A1F"/>
                </a:solidFill>
                <a:latin typeface="Calibri"/>
              </a:rPr>
              <a:t>chủ nghĩa Mác – Lênin và tư tưởng Hồ Chí Minh</a:t>
            </a:r>
            <a:r>
              <a:rPr sz="1250" b="0">
                <a:solidFill>
                  <a:srgbClr val="3A2A26"/>
                </a:solidFill>
                <a:latin typeface="Calibri"/>
              </a:rPr>
              <a:t> làm nền tảng tư tưởng, kim chỉ nam cho hành động. Tư tưởng Hồ Chí Minh là một hệ thống quan điểm toàn diện và sâu sắc, là </a:t>
            </a:r>
            <a:r>
              <a:rPr sz="1250" b="1">
                <a:solidFill>
                  <a:srgbClr val="8C0A1F"/>
                </a:solidFill>
                <a:latin typeface="Calibri"/>
              </a:rPr>
              <a:t>tài sản tinh thần to lớn</a:t>
            </a:r>
            <a:r>
              <a:rPr sz="1250" b="0">
                <a:solidFill>
                  <a:srgbClr val="3A2A26"/>
                </a:solidFill>
                <a:latin typeface="Calibri"/>
              </a:rPr>
              <a:t> của Đảng và dân tộc ta.</a:t>
            </a:r>
          </a:p>
        </p:txBody>
      </p:sp>
      <p:sp>
        <p:nvSpPr>
          <p:cNvPr id="6" name="Rectangle 5"/>
          <p:cNvSpPr/>
          <p:nvPr/>
        </p:nvSpPr>
        <p:spPr>
          <a:xfrm>
            <a:off x="640080" y="2468880"/>
            <a:ext cx="50800" cy="150876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0880" y="2468880"/>
            <a:ext cx="10830560" cy="150876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560320"/>
            <a:ext cx="10515600" cy="1325880"/>
          </a:xfrm>
          <a:prstGeom prst="rect">
            <a:avLst/>
          </a:prstGeom>
          <a:noFill/>
        </p:spPr>
        <p:txBody>
          <a:bodyPr wrap="square" anchor="t" lIns="0" rIns="0" tIns="0" bIns="0">
            <a:spAutoFit/>
          </a:bodyPr>
          <a:lstStyle/>
          <a:p>
            <a:pPr algn="l">
              <a:lnSpc>
                <a:spcPct val="115000"/>
              </a:lnSpc>
              <a:spcAft>
                <a:spcPts val="400"/>
              </a:spcAft>
            </a:pPr>
            <a:r>
              <a:rPr sz="1400" b="1" i="0">
                <a:solidFill>
                  <a:srgbClr val="1A1210"/>
                </a:solidFill>
                <a:latin typeface="Georgia"/>
              </a:rPr>
              <a:t>Con đường phát triển lên chủ nghĩa xã hội</a:t>
            </a:r>
          </a:p>
          <a:p>
            <a:pPr>
              <a:lnSpc>
                <a:spcPct val="120000"/>
              </a:lnSpc>
            </a:pPr>
            <a:r>
              <a:rPr sz="1250" b="1">
                <a:solidFill>
                  <a:srgbClr val="8C0A1F"/>
                </a:solidFill>
                <a:latin typeface="Calibri"/>
              </a:rPr>
              <a:t>Bỏ qua chế độ tư bản chủ nghĩa</a:t>
            </a:r>
            <a:r>
              <a:rPr sz="1250" b="0">
                <a:solidFill>
                  <a:srgbClr val="3A2A26"/>
                </a:solidFill>
                <a:latin typeface="Calibri"/>
              </a:rPr>
              <a:t> — tức là bỏ qua việc xác lập vị trí thống trị của quan hệ sản xuất và kiến trúc thượng tầng TBCN — nhưng tiếp thu, kế thừa những thành tựu mà nhân loại đã đạt được, đặc biệt về khoa học và công nghệ, để phát triển nhanh lực lượng sản xuất, xây dựng nền kinh tế hiện đại.</a:t>
            </a:r>
          </a:p>
        </p:txBody>
      </p:sp>
      <p:sp>
        <p:nvSpPr>
          <p:cNvPr id="9" name="Rectangle 8"/>
          <p:cNvSpPr/>
          <p:nvPr/>
        </p:nvSpPr>
        <p:spPr>
          <a:xfrm>
            <a:off x="640080" y="4114800"/>
            <a:ext cx="50800" cy="12801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0880" y="4114800"/>
            <a:ext cx="10830560" cy="128016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0"/>
            <a:ext cx="10515600" cy="1097280"/>
          </a:xfrm>
          <a:prstGeom prst="rect">
            <a:avLst/>
          </a:prstGeom>
          <a:noFill/>
        </p:spPr>
        <p:txBody>
          <a:bodyPr wrap="square" anchor="t" lIns="0" rIns="0" tIns="0" bIns="0">
            <a:spAutoFit/>
          </a:bodyPr>
          <a:lstStyle/>
          <a:p>
            <a:pPr algn="l">
              <a:lnSpc>
                <a:spcPct val="115000"/>
              </a:lnSpc>
              <a:spcAft>
                <a:spcPts val="400"/>
              </a:spcAft>
            </a:pPr>
            <a:r>
              <a:rPr sz="1400" b="1" i="0">
                <a:solidFill>
                  <a:srgbClr val="1A1210"/>
                </a:solidFill>
                <a:latin typeface="Georgia"/>
              </a:rPr>
              <a:t>Xác định mô hình kinh tế</a:t>
            </a:r>
          </a:p>
          <a:p>
            <a:pPr>
              <a:lnSpc>
                <a:spcPct val="120000"/>
              </a:lnSpc>
            </a:pPr>
            <a:r>
              <a:rPr sz="1250" b="0">
                <a:solidFill>
                  <a:srgbClr val="3A2A26"/>
                </a:solidFill>
                <a:latin typeface="Calibri"/>
              </a:rPr>
              <a:t>Thực hiện nhất quán, lâu dài </a:t>
            </a:r>
            <a:r>
              <a:rPr sz="1250" b="1">
                <a:solidFill>
                  <a:srgbClr val="8C0A1F"/>
                </a:solidFill>
                <a:latin typeface="Calibri"/>
              </a:rPr>
              <a:t>nền kinh tế thị trường định hướng xã hội chủ nghĩa</a:t>
            </a:r>
            <a:r>
              <a:rPr sz="1250" b="0">
                <a:solidFill>
                  <a:srgbClr val="3A2A26"/>
                </a:solidFill>
                <a:latin typeface="Calibri"/>
              </a:rPr>
              <a:t> — coi đây là mô hình kinh tế tổng quát của nước ta trong thời kỳ quá độ đi lên CNXH.</a:t>
            </a:r>
          </a:p>
        </p:txBody>
      </p:sp>
      <p:sp>
        <p:nvSpPr>
          <p:cNvPr id="12" name="TextBox 11"/>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14/25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2.3 · NHỮNG BƯỚC ĐỘT PHÁ VỀ LÝ LUẬN NỀN TẢNG (2/2)</a:t>
            </a:r>
          </a:p>
        </p:txBody>
      </p:sp>
      <p:sp>
        <p:nvSpPr>
          <p:cNvPr id="3" name="Rectangle 2"/>
          <p:cNvSpPr/>
          <p:nvPr/>
        </p:nvSpPr>
        <p:spPr>
          <a:xfrm>
            <a:off x="640080" y="1051560"/>
            <a:ext cx="50800" cy="10515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90880" y="1051560"/>
            <a:ext cx="10830560" cy="105156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143000"/>
            <a:ext cx="10515600" cy="868680"/>
          </a:xfrm>
          <a:prstGeom prst="rect">
            <a:avLst/>
          </a:prstGeom>
          <a:noFill/>
        </p:spPr>
        <p:txBody>
          <a:bodyPr wrap="square" anchor="t" lIns="0" rIns="0" tIns="0" bIns="0">
            <a:spAutoFit/>
          </a:bodyPr>
          <a:lstStyle/>
          <a:p>
            <a:pPr algn="l">
              <a:lnSpc>
                <a:spcPct val="115000"/>
              </a:lnSpc>
              <a:spcAft>
                <a:spcPts val="400"/>
              </a:spcAft>
            </a:pPr>
            <a:r>
              <a:rPr sz="1400" b="1" i="0">
                <a:solidFill>
                  <a:srgbClr val="1A1210"/>
                </a:solidFill>
                <a:latin typeface="Georgia"/>
              </a:rPr>
              <a:t>Xác định động lực phát triển</a:t>
            </a:r>
          </a:p>
          <a:p>
            <a:pPr>
              <a:lnSpc>
                <a:spcPct val="120000"/>
              </a:lnSpc>
            </a:pPr>
            <a:r>
              <a:rPr sz="1250" b="0">
                <a:solidFill>
                  <a:srgbClr val="3A2A26"/>
                </a:solidFill>
                <a:latin typeface="Calibri"/>
              </a:rPr>
              <a:t>Động lực chủ yếu là </a:t>
            </a:r>
            <a:r>
              <a:rPr sz="1250" b="1">
                <a:solidFill>
                  <a:srgbClr val="8C0A1F"/>
                </a:solidFill>
                <a:latin typeface="Calibri"/>
              </a:rPr>
              <a:t>đại đoàn kết toàn dân</a:t>
            </a:r>
            <a:r>
              <a:rPr sz="1250" b="0">
                <a:solidFill>
                  <a:srgbClr val="3A2A26"/>
                </a:solidFill>
                <a:latin typeface="Calibri"/>
              </a:rPr>
              <a:t> trên cơ sở liên minh công nhân – nông dân – trí thức do Đảng lãnh đạo, kết hợp hài hòa lợi ích cá nhân, tập thể và xã hội.</a:t>
            </a:r>
          </a:p>
        </p:txBody>
      </p:sp>
      <p:sp>
        <p:nvSpPr>
          <p:cNvPr id="6" name="Rectangle 5"/>
          <p:cNvSpPr/>
          <p:nvPr/>
        </p:nvSpPr>
        <p:spPr>
          <a:xfrm>
            <a:off x="640080" y="2331720"/>
            <a:ext cx="5257800" cy="5080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382520"/>
            <a:ext cx="5257800" cy="132080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68880"/>
            <a:ext cx="4855464" cy="1097280"/>
          </a:xfrm>
          <a:prstGeom prst="rect">
            <a:avLst/>
          </a:prstGeom>
          <a:noFill/>
        </p:spPr>
        <p:txBody>
          <a:bodyPr wrap="square" anchor="t" lIns="0" rIns="0" tIns="0" bIns="0">
            <a:spAutoFit/>
          </a:bodyPr>
          <a:lstStyle/>
          <a:p>
            <a:pPr algn="l">
              <a:lnSpc>
                <a:spcPct val="115000"/>
              </a:lnSpc>
              <a:spcAft>
                <a:spcPts val="600"/>
              </a:spcAft>
            </a:pPr>
            <a:r>
              <a:rPr sz="1450" b="1" i="0">
                <a:solidFill>
                  <a:srgbClr val="8C0A1F"/>
                </a:solidFill>
                <a:latin typeface="Georgia"/>
              </a:rPr>
              <a:t>🎭 Văn hóa</a:t>
            </a:r>
          </a:p>
          <a:p>
            <a:pPr>
              <a:lnSpc>
                <a:spcPct val="125000"/>
              </a:lnSpc>
            </a:pPr>
            <a:r>
              <a:rPr sz="1200" b="0">
                <a:solidFill>
                  <a:srgbClr val="3A2A26"/>
                </a:solidFill>
                <a:latin typeface="Calibri"/>
              </a:rPr>
              <a:t>Xây dựng nền văn hóa Việt Nam tiên tiến, đậm đà bản sắc dân tộc — nền tảng tinh thần, vừa là mục tiêu, vừa là động lực phát triển KT-XH.</a:t>
            </a:r>
          </a:p>
        </p:txBody>
      </p:sp>
      <p:sp>
        <p:nvSpPr>
          <p:cNvPr id="9" name="Rectangle 8"/>
          <p:cNvSpPr/>
          <p:nvPr/>
        </p:nvSpPr>
        <p:spPr>
          <a:xfrm>
            <a:off x="6263640" y="2331720"/>
            <a:ext cx="5257800" cy="5080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2382520"/>
            <a:ext cx="5257800" cy="132080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2468880"/>
            <a:ext cx="4855464" cy="1097280"/>
          </a:xfrm>
          <a:prstGeom prst="rect">
            <a:avLst/>
          </a:prstGeom>
          <a:noFill/>
        </p:spPr>
        <p:txBody>
          <a:bodyPr wrap="square" anchor="t" lIns="0" rIns="0" tIns="0" bIns="0">
            <a:spAutoFit/>
          </a:bodyPr>
          <a:lstStyle/>
          <a:p>
            <a:pPr algn="l">
              <a:lnSpc>
                <a:spcPct val="115000"/>
              </a:lnSpc>
              <a:spcAft>
                <a:spcPts val="600"/>
              </a:spcAft>
            </a:pPr>
            <a:r>
              <a:rPr sz="1450" b="1" i="0">
                <a:solidFill>
                  <a:srgbClr val="8C0A1F"/>
                </a:solidFill>
                <a:latin typeface="Georgia"/>
              </a:rPr>
              <a:t>🌐 Đối ngoại</a:t>
            </a:r>
          </a:p>
          <a:p>
            <a:pPr>
              <a:lnSpc>
                <a:spcPct val="125000"/>
              </a:lnSpc>
            </a:pPr>
            <a:r>
              <a:rPr sz="1200" b="0">
                <a:solidFill>
                  <a:srgbClr val="3A2A26"/>
                </a:solidFill>
                <a:latin typeface="Calibri"/>
              </a:rPr>
              <a:t>Độc lập tự chủ, rộng mở, đa phương hóa, đa dạng hóa. Việt Nam sẵn sàng là </a:t>
            </a:r>
            <a:r>
              <a:rPr sz="1200" b="1">
                <a:solidFill>
                  <a:srgbClr val="1A1210"/>
                </a:solidFill>
                <a:latin typeface="Calibri"/>
              </a:rPr>
              <a:t>bạn, là đối tác tin cậy</a:t>
            </a:r>
            <a:r>
              <a:rPr sz="1200" b="0">
                <a:solidFill>
                  <a:srgbClr val="3A2A26"/>
                </a:solidFill>
                <a:latin typeface="Calibri"/>
              </a:rPr>
              <a:t> của các nước trong cộng đồng quốc tế.</a:t>
            </a:r>
          </a:p>
        </p:txBody>
      </p:sp>
      <p:sp>
        <p:nvSpPr>
          <p:cNvPr id="12" name="Rectangle 11"/>
          <p:cNvSpPr/>
          <p:nvPr/>
        </p:nvSpPr>
        <p:spPr>
          <a:xfrm>
            <a:off x="640080" y="3931920"/>
            <a:ext cx="50800" cy="141732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0880" y="3931920"/>
            <a:ext cx="10830560" cy="141732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4023360"/>
            <a:ext cx="10515600" cy="1234440"/>
          </a:xfrm>
          <a:prstGeom prst="rect">
            <a:avLst/>
          </a:prstGeom>
          <a:noFill/>
        </p:spPr>
        <p:txBody>
          <a:bodyPr wrap="square" anchor="t" lIns="0" rIns="0" tIns="0" bIns="0">
            <a:spAutoFit/>
          </a:bodyPr>
          <a:lstStyle/>
          <a:p>
            <a:pPr algn="l">
              <a:lnSpc>
                <a:spcPct val="115000"/>
              </a:lnSpc>
              <a:spcAft>
                <a:spcPts val="400"/>
              </a:spcAft>
            </a:pPr>
            <a:r>
              <a:rPr sz="1400" b="1" i="0">
                <a:solidFill>
                  <a:srgbClr val="1A1210"/>
                </a:solidFill>
                <a:latin typeface="Georgia"/>
              </a:rPr>
              <a:t>Tầm quan trọng</a:t>
            </a:r>
          </a:p>
          <a:p>
            <a:pPr>
              <a:lnSpc>
                <a:spcPct val="120000"/>
              </a:lnSpc>
            </a:pPr>
            <a:r>
              <a:rPr sz="1250" b="0">
                <a:solidFill>
                  <a:srgbClr val="3A2A26"/>
                </a:solidFill>
                <a:latin typeface="Calibri"/>
              </a:rPr>
              <a:t>Đại hội lần thứ IX tiếp tục đẩy mạnh công cuộc đổi mới, </a:t>
            </a:r>
            <a:r>
              <a:rPr sz="1250" b="1">
                <a:solidFill>
                  <a:srgbClr val="8C0A1F"/>
                </a:solidFill>
                <a:latin typeface="Calibri"/>
              </a:rPr>
              <a:t>đánh dấu bước trưởng thành trong nhận thức</a:t>
            </a:r>
            <a:r>
              <a:rPr sz="1250" b="0">
                <a:solidFill>
                  <a:srgbClr val="3A2A26"/>
                </a:solidFill>
                <a:latin typeface="Calibri"/>
              </a:rPr>
              <a:t>, phát triển và cụ thể hóa </a:t>
            </a:r>
            <a:r>
              <a:rPr sz="1250" b="1">
                <a:solidFill>
                  <a:srgbClr val="8C0A1F"/>
                </a:solidFill>
                <a:latin typeface="Calibri"/>
              </a:rPr>
              <a:t>Cương lĩnh chính trị năm 1991</a:t>
            </a:r>
            <a:r>
              <a:rPr sz="1250" b="0">
                <a:solidFill>
                  <a:srgbClr val="3A2A26"/>
                </a:solidFill>
                <a:latin typeface="Calibri"/>
              </a:rPr>
              <a:t> (Đại hội VII) trong những năm đầu thế kỷ XXI.</a:t>
            </a:r>
          </a:p>
        </p:txBody>
      </p:sp>
      <p:sp>
        <p:nvSpPr>
          <p:cNvPr id="15" name="TextBox 14"/>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15/25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2.4 · CỤ THỂ HÓA ĐƯỜNG LỐI QUA CÁC HỘI NGHỊ TRUNG ƯƠNG KHÓA IX</a:t>
            </a:r>
          </a:p>
        </p:txBody>
      </p:sp>
      <p:sp>
        <p:nvSpPr>
          <p:cNvPr id="3" name="TextBox 2"/>
          <p:cNvSpPr txBox="1"/>
          <p:nvPr/>
        </p:nvSpPr>
        <p:spPr>
          <a:xfrm>
            <a:off x="640080" y="1005840"/>
            <a:ext cx="10881360" cy="365760"/>
          </a:xfrm>
          <a:prstGeom prst="rect">
            <a:avLst/>
          </a:prstGeom>
          <a:noFill/>
        </p:spPr>
        <p:txBody>
          <a:bodyPr wrap="square" anchor="t" lIns="0" rIns="0" tIns="0" bIns="0">
            <a:spAutoFit/>
          </a:bodyPr>
          <a:lstStyle/>
          <a:p>
            <a:pPr algn="l">
              <a:lnSpc>
                <a:spcPct val="115000"/>
              </a:lnSpc>
              <a:spcAft>
                <a:spcPts val="0"/>
              </a:spcAft>
            </a:pPr>
            <a:r>
              <a:rPr sz="1300" b="0" i="0">
                <a:solidFill>
                  <a:srgbClr val="3A2A26"/>
                </a:solidFill>
                <a:latin typeface="Calibri"/>
              </a:rPr>
              <a:t>Các hội nghị Trung ương khóa IX chỉ đạo đổi mới toàn diện trên 5 nhóm nhiệm vụ trọng tâm:</a:t>
            </a:r>
          </a:p>
        </p:txBody>
      </p:sp>
      <p:sp>
        <p:nvSpPr>
          <p:cNvPr id="4" name="Rounded Rectangle 3"/>
          <p:cNvSpPr/>
          <p:nvPr/>
        </p:nvSpPr>
        <p:spPr>
          <a:xfrm>
            <a:off x="640080" y="1463040"/>
            <a:ext cx="2084831" cy="914400"/>
          </a:xfrm>
          <a:prstGeom prst="roundRect">
            <a:avLst>
              <a:gd name="adj" fmla="val 12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554480"/>
            <a:ext cx="1993391" cy="731520"/>
          </a:xfrm>
          <a:prstGeom prst="rect">
            <a:avLst/>
          </a:prstGeom>
          <a:noFill/>
        </p:spPr>
        <p:txBody>
          <a:bodyPr wrap="square" anchor="ctr" lIns="0" rIns="0" tIns="0" bIns="0">
            <a:spAutoFit/>
          </a:bodyPr>
          <a:lstStyle/>
          <a:p>
            <a:pPr algn="ctr">
              <a:lnSpc>
                <a:spcPct val="115000"/>
              </a:lnSpc>
              <a:spcAft>
                <a:spcPts val="400"/>
              </a:spcAft>
            </a:pPr>
            <a:r>
              <a:rPr sz="2200" b="0" i="0">
                <a:solidFill>
                  <a:srgbClr val="1A1210"/>
                </a:solidFill>
                <a:latin typeface="Calibri"/>
              </a:rPr>
              <a:t>💰</a:t>
            </a:r>
          </a:p>
          <a:p>
            <a:pPr algn="ctr">
              <a:lnSpc>
                <a:spcPct val="115000"/>
              </a:lnSpc>
              <a:spcAft>
                <a:spcPts val="0"/>
              </a:spcAft>
            </a:pPr>
            <a:r>
              <a:rPr sz="1050" b="1" i="0">
                <a:solidFill>
                  <a:srgbClr val="3A2A26"/>
                </a:solidFill>
                <a:latin typeface="Calibri"/>
              </a:rPr>
              <a:t>Kinh tế</a:t>
            </a:r>
          </a:p>
        </p:txBody>
      </p:sp>
      <p:sp>
        <p:nvSpPr>
          <p:cNvPr id="6" name="Rounded Rectangle 5"/>
          <p:cNvSpPr/>
          <p:nvPr/>
        </p:nvSpPr>
        <p:spPr>
          <a:xfrm>
            <a:off x="2816351" y="1463040"/>
            <a:ext cx="2084831" cy="914400"/>
          </a:xfrm>
          <a:prstGeom prst="roundRect">
            <a:avLst>
              <a:gd name="adj" fmla="val 12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62071" y="1554480"/>
            <a:ext cx="1993391" cy="731520"/>
          </a:xfrm>
          <a:prstGeom prst="rect">
            <a:avLst/>
          </a:prstGeom>
          <a:noFill/>
        </p:spPr>
        <p:txBody>
          <a:bodyPr wrap="square" anchor="ctr" lIns="0" rIns="0" tIns="0" bIns="0">
            <a:spAutoFit/>
          </a:bodyPr>
          <a:lstStyle/>
          <a:p>
            <a:pPr algn="ctr">
              <a:lnSpc>
                <a:spcPct val="115000"/>
              </a:lnSpc>
              <a:spcAft>
                <a:spcPts val="400"/>
              </a:spcAft>
            </a:pPr>
            <a:r>
              <a:rPr sz="2200" b="0" i="0">
                <a:solidFill>
                  <a:srgbClr val="1A1210"/>
                </a:solidFill>
                <a:latin typeface="Calibri"/>
              </a:rPr>
              <a:t>📚</a:t>
            </a:r>
          </a:p>
          <a:p>
            <a:pPr algn="ctr">
              <a:lnSpc>
                <a:spcPct val="115000"/>
              </a:lnSpc>
              <a:spcAft>
                <a:spcPts val="0"/>
              </a:spcAft>
            </a:pPr>
            <a:r>
              <a:rPr sz="1050" b="1" i="0">
                <a:solidFill>
                  <a:srgbClr val="3A2A26"/>
                </a:solidFill>
                <a:latin typeface="Calibri"/>
              </a:rPr>
              <a:t>Tư tưởng, lý luận</a:t>
            </a:r>
          </a:p>
        </p:txBody>
      </p:sp>
      <p:sp>
        <p:nvSpPr>
          <p:cNvPr id="8" name="Rounded Rectangle 7"/>
          <p:cNvSpPr/>
          <p:nvPr/>
        </p:nvSpPr>
        <p:spPr>
          <a:xfrm>
            <a:off x="4992622" y="1463040"/>
            <a:ext cx="2084831" cy="914400"/>
          </a:xfrm>
          <a:prstGeom prst="roundRect">
            <a:avLst>
              <a:gd name="adj" fmla="val 12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38342" y="1554480"/>
            <a:ext cx="1993391" cy="731520"/>
          </a:xfrm>
          <a:prstGeom prst="rect">
            <a:avLst/>
          </a:prstGeom>
          <a:noFill/>
        </p:spPr>
        <p:txBody>
          <a:bodyPr wrap="square" anchor="ctr" lIns="0" rIns="0" tIns="0" bIns="0">
            <a:spAutoFit/>
          </a:bodyPr>
          <a:lstStyle/>
          <a:p>
            <a:pPr algn="ctr">
              <a:lnSpc>
                <a:spcPct val="115000"/>
              </a:lnSpc>
              <a:spcAft>
                <a:spcPts val="400"/>
              </a:spcAft>
            </a:pPr>
            <a:r>
              <a:rPr sz="2200" b="0" i="0">
                <a:solidFill>
                  <a:srgbClr val="1A1210"/>
                </a:solidFill>
                <a:latin typeface="Calibri"/>
              </a:rPr>
              <a:t>🤝</a:t>
            </a:r>
          </a:p>
          <a:p>
            <a:pPr algn="ctr">
              <a:lnSpc>
                <a:spcPct val="115000"/>
              </a:lnSpc>
              <a:spcAft>
                <a:spcPts val="0"/>
              </a:spcAft>
            </a:pPr>
            <a:r>
              <a:rPr sz="1050" b="1" i="0">
                <a:solidFill>
                  <a:srgbClr val="3A2A26"/>
                </a:solidFill>
                <a:latin typeface="Calibri"/>
              </a:rPr>
              <a:t>Đại đoàn kết, Dân tộc, Tôn giáo</a:t>
            </a:r>
          </a:p>
        </p:txBody>
      </p:sp>
      <p:sp>
        <p:nvSpPr>
          <p:cNvPr id="10" name="Rounded Rectangle 9"/>
          <p:cNvSpPr/>
          <p:nvPr/>
        </p:nvSpPr>
        <p:spPr>
          <a:xfrm>
            <a:off x="7168893" y="1463040"/>
            <a:ext cx="2084831" cy="914400"/>
          </a:xfrm>
          <a:prstGeom prst="roundRect">
            <a:avLst>
              <a:gd name="adj" fmla="val 12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14613" y="1554480"/>
            <a:ext cx="1993391" cy="731520"/>
          </a:xfrm>
          <a:prstGeom prst="rect">
            <a:avLst/>
          </a:prstGeom>
          <a:noFill/>
        </p:spPr>
        <p:txBody>
          <a:bodyPr wrap="square" anchor="ctr" lIns="0" rIns="0" tIns="0" bIns="0">
            <a:spAutoFit/>
          </a:bodyPr>
          <a:lstStyle/>
          <a:p>
            <a:pPr algn="ctr">
              <a:lnSpc>
                <a:spcPct val="115000"/>
              </a:lnSpc>
              <a:spcAft>
                <a:spcPts val="400"/>
              </a:spcAft>
            </a:pPr>
            <a:r>
              <a:rPr sz="2200" b="0" i="0">
                <a:solidFill>
                  <a:srgbClr val="1A1210"/>
                </a:solidFill>
                <a:latin typeface="Calibri"/>
              </a:rPr>
              <a:t>🌏</a:t>
            </a:r>
          </a:p>
          <a:p>
            <a:pPr algn="ctr">
              <a:lnSpc>
                <a:spcPct val="115000"/>
              </a:lnSpc>
              <a:spcAft>
                <a:spcPts val="0"/>
              </a:spcAft>
            </a:pPr>
            <a:r>
              <a:rPr sz="1050" b="1" i="0">
                <a:solidFill>
                  <a:srgbClr val="3A2A26"/>
                </a:solidFill>
                <a:latin typeface="Calibri"/>
              </a:rPr>
              <a:t>Kiều bào</a:t>
            </a:r>
          </a:p>
        </p:txBody>
      </p:sp>
      <p:sp>
        <p:nvSpPr>
          <p:cNvPr id="12" name="Rounded Rectangle 11"/>
          <p:cNvSpPr/>
          <p:nvPr/>
        </p:nvSpPr>
        <p:spPr>
          <a:xfrm>
            <a:off x="9345164" y="1463040"/>
            <a:ext cx="2084831" cy="914400"/>
          </a:xfrm>
          <a:prstGeom prst="roundRect">
            <a:avLst>
              <a:gd name="adj" fmla="val 12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90884" y="1554480"/>
            <a:ext cx="1993391" cy="731520"/>
          </a:xfrm>
          <a:prstGeom prst="rect">
            <a:avLst/>
          </a:prstGeom>
          <a:noFill/>
        </p:spPr>
        <p:txBody>
          <a:bodyPr wrap="square" anchor="ctr" lIns="0" rIns="0" tIns="0" bIns="0">
            <a:spAutoFit/>
          </a:bodyPr>
          <a:lstStyle/>
          <a:p>
            <a:pPr algn="ctr">
              <a:lnSpc>
                <a:spcPct val="115000"/>
              </a:lnSpc>
              <a:spcAft>
                <a:spcPts val="400"/>
              </a:spcAft>
            </a:pPr>
            <a:r>
              <a:rPr sz="2200" b="0" i="0">
                <a:solidFill>
                  <a:srgbClr val="1A1210"/>
                </a:solidFill>
                <a:latin typeface="Calibri"/>
              </a:rPr>
              <a:t>🛡</a:t>
            </a:r>
          </a:p>
          <a:p>
            <a:pPr algn="ctr">
              <a:lnSpc>
                <a:spcPct val="115000"/>
              </a:lnSpc>
              <a:spcAft>
                <a:spcPts val="0"/>
              </a:spcAft>
            </a:pPr>
            <a:r>
              <a:rPr sz="1050" b="1" i="0">
                <a:solidFill>
                  <a:srgbClr val="3A2A26"/>
                </a:solidFill>
                <a:latin typeface="Calibri"/>
              </a:rPr>
              <a:t>Quốc phòng</a:t>
            </a:r>
          </a:p>
        </p:txBody>
      </p:sp>
      <p:sp>
        <p:nvSpPr>
          <p:cNvPr id="14" name="Rectangle 13"/>
          <p:cNvSpPr/>
          <p:nvPr/>
        </p:nvSpPr>
        <p:spPr>
          <a:xfrm>
            <a:off x="640080" y="2606040"/>
            <a:ext cx="50800" cy="26517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0880" y="2606040"/>
            <a:ext cx="5207000" cy="265176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2697480"/>
            <a:ext cx="4892040" cy="2468880"/>
          </a:xfrm>
          <a:prstGeom prst="rect">
            <a:avLst/>
          </a:prstGeom>
          <a:noFill/>
        </p:spPr>
        <p:txBody>
          <a:bodyPr wrap="square" anchor="t" lIns="0" rIns="0" tIns="0" bIns="0">
            <a:spAutoFit/>
          </a:bodyPr>
          <a:lstStyle/>
          <a:p>
            <a:pPr algn="l">
              <a:lnSpc>
                <a:spcPct val="115000"/>
              </a:lnSpc>
              <a:spcAft>
                <a:spcPts val="400"/>
              </a:spcAft>
            </a:pPr>
            <a:r>
              <a:rPr sz="1000" b="1" i="0">
                <a:solidFill>
                  <a:srgbClr val="C8102E"/>
                </a:solidFill>
                <a:latin typeface="Calibri"/>
              </a:rPr>
              <a:t>Hội nghị TW 5 khóa IX · 3/2002</a:t>
            </a:r>
          </a:p>
          <a:p>
            <a:pPr algn="l">
              <a:lnSpc>
                <a:spcPct val="115000"/>
              </a:lnSpc>
              <a:spcAft>
                <a:spcPts val="400"/>
              </a:spcAft>
            </a:pPr>
            <a:r>
              <a:rPr sz="1400" b="1" i="0">
                <a:solidFill>
                  <a:srgbClr val="1A1210"/>
                </a:solidFill>
                <a:latin typeface="Georgia"/>
              </a:rPr>
              <a:t>Kinh tế tư nhân &amp; kinh tế tập thể</a:t>
            </a:r>
          </a:p>
          <a:p>
            <a:pPr>
              <a:lnSpc>
                <a:spcPct val="120000"/>
              </a:lnSpc>
            </a:pPr>
            <a:r>
              <a:rPr sz="1150" b="0">
                <a:solidFill>
                  <a:srgbClr val="3A2A26"/>
                </a:solidFill>
                <a:latin typeface="Calibri"/>
              </a:rPr>
              <a:t>Thảo luận, thống nhất nhận thức coi kinh tế tư nhân là </a:t>
            </a:r>
            <a:r>
              <a:rPr sz="1150" b="1">
                <a:solidFill>
                  <a:srgbClr val="8C0A1F"/>
                </a:solidFill>
                <a:latin typeface="Calibri"/>
              </a:rPr>
              <a:t>bộ phận cấu thành quan trọng</a:t>
            </a:r>
            <a:r>
              <a:rPr sz="1150" b="0">
                <a:solidFill>
                  <a:srgbClr val="3A2A26"/>
                </a:solidFill>
                <a:latin typeface="Calibri"/>
              </a:rPr>
              <a:t> của nền kinh tế quốc dân. Phát triển kinh tế tư nhân là vấn đề chiến lược lâu dài trong phát triển nền kinh tế nhiều thành phần định hướng XHCN. Đồng thời thống nhất nhận thức về sự cần thiết phát triển kinh tế tập thể.</a:t>
            </a:r>
          </a:p>
        </p:txBody>
      </p:sp>
      <p:sp>
        <p:nvSpPr>
          <p:cNvPr id="17" name="Rectangle 16"/>
          <p:cNvSpPr/>
          <p:nvPr/>
        </p:nvSpPr>
        <p:spPr>
          <a:xfrm>
            <a:off x="6263640" y="2606040"/>
            <a:ext cx="50800" cy="265176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14440" y="2606040"/>
            <a:ext cx="5207000" cy="265176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8" y="2697480"/>
            <a:ext cx="4892040" cy="2468880"/>
          </a:xfrm>
          <a:prstGeom prst="rect">
            <a:avLst/>
          </a:prstGeom>
          <a:noFill/>
        </p:spPr>
        <p:txBody>
          <a:bodyPr wrap="square" anchor="t" lIns="0" rIns="0" tIns="0" bIns="0">
            <a:spAutoFit/>
          </a:bodyPr>
          <a:lstStyle/>
          <a:p>
            <a:pPr algn="l">
              <a:lnSpc>
                <a:spcPct val="115000"/>
              </a:lnSpc>
              <a:spcAft>
                <a:spcPts val="400"/>
              </a:spcAft>
            </a:pPr>
            <a:r>
              <a:rPr sz="1000" b="1" i="0">
                <a:solidFill>
                  <a:srgbClr val="C8102E"/>
                </a:solidFill>
                <a:latin typeface="Calibri"/>
              </a:rPr>
              <a:t>Hội nghị TW 7 khóa IX · 3/2003</a:t>
            </a:r>
          </a:p>
          <a:p>
            <a:pPr algn="l">
              <a:lnSpc>
                <a:spcPct val="115000"/>
              </a:lnSpc>
              <a:spcAft>
                <a:spcPts val="400"/>
              </a:spcAft>
            </a:pPr>
            <a:r>
              <a:rPr sz="1400" b="1" i="0">
                <a:solidFill>
                  <a:srgbClr val="1A1210"/>
                </a:solidFill>
                <a:latin typeface="Georgia"/>
              </a:rPr>
              <a:t>Chính sách, pháp luật về đất đai</a:t>
            </a:r>
          </a:p>
          <a:p>
            <a:pPr>
              <a:lnSpc>
                <a:spcPct val="120000"/>
              </a:lnSpc>
            </a:pPr>
            <a:r>
              <a:rPr sz="1150" b="0">
                <a:solidFill>
                  <a:srgbClr val="3A2A26"/>
                </a:solidFill>
                <a:latin typeface="Calibri"/>
              </a:rPr>
              <a:t>Thống nhất nhận thức coi đất đai là </a:t>
            </a:r>
            <a:r>
              <a:rPr sz="1150" b="1">
                <a:solidFill>
                  <a:srgbClr val="8C0A1F"/>
                </a:solidFill>
                <a:latin typeface="Calibri"/>
              </a:rPr>
              <a:t>tài nguyên quốc gia vô cùng quý giá</a:t>
            </a:r>
            <a:r>
              <a:rPr sz="1150" b="0">
                <a:solidFill>
                  <a:srgbClr val="3A2A26"/>
                </a:solidFill>
                <a:latin typeface="Calibri"/>
              </a:rPr>
              <a:t>, là tư liệu sản xuất đặc biệt, là nguồn nội lực và nguồn vốn to lớn của đất nước; ban hành nghị quyết về tiếp tục đổi mới chính sách, pháp luật về đất đai trong thời kỳ đẩy mạnh CNH, HĐH.</a:t>
            </a:r>
          </a:p>
        </p:txBody>
      </p:sp>
      <p:sp>
        <p:nvSpPr>
          <p:cNvPr id="20" name="TextBox 19"/>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16/25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2.4 · VỀ CÔNG TÁC TƯ TƯỞNG, LÝ LUẬN</a:t>
            </a:r>
          </a:p>
        </p:txBody>
      </p:sp>
      <p:sp>
        <p:nvSpPr>
          <p:cNvPr id="3" name="Rectangle 2"/>
          <p:cNvSpPr/>
          <p:nvPr/>
        </p:nvSpPr>
        <p:spPr>
          <a:xfrm>
            <a:off x="640080" y="1188720"/>
            <a:ext cx="50800" cy="1188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90880" y="1188720"/>
            <a:ext cx="10830560" cy="118872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280160"/>
            <a:ext cx="10515600" cy="1005840"/>
          </a:xfrm>
          <a:prstGeom prst="rect">
            <a:avLst/>
          </a:prstGeom>
          <a:noFill/>
        </p:spPr>
        <p:txBody>
          <a:bodyPr wrap="square" anchor="t" lIns="0" rIns="0" tIns="0" bIns="0">
            <a:spAutoFit/>
          </a:bodyPr>
          <a:lstStyle/>
          <a:p>
            <a:pPr algn="l">
              <a:lnSpc>
                <a:spcPct val="115000"/>
              </a:lnSpc>
              <a:spcAft>
                <a:spcPts val="400"/>
              </a:spcAft>
            </a:pPr>
            <a:r>
              <a:rPr sz="1000" b="1" i="0">
                <a:solidFill>
                  <a:srgbClr val="C8102E"/>
                </a:solidFill>
                <a:latin typeface="Calibri"/>
              </a:rPr>
              <a:t>Hội nghị TW 5 khóa IX · 3/2002</a:t>
            </a:r>
          </a:p>
          <a:p>
            <a:pPr>
              <a:lnSpc>
                <a:spcPct val="120000"/>
              </a:lnSpc>
            </a:pPr>
            <a:r>
              <a:rPr sz="1400" b="0">
                <a:solidFill>
                  <a:srgbClr val="3A2A26"/>
                </a:solidFill>
                <a:latin typeface="Calibri"/>
              </a:rPr>
              <a:t>Đề ra những nhiệm vụ chủ yếu của công tác tư tưởng, lý luận trong tình hình mới.</a:t>
            </a:r>
          </a:p>
        </p:txBody>
      </p:sp>
      <p:sp>
        <p:nvSpPr>
          <p:cNvPr id="6" name="Rectangle 5"/>
          <p:cNvSpPr/>
          <p:nvPr/>
        </p:nvSpPr>
        <p:spPr>
          <a:xfrm>
            <a:off x="640080" y="2651760"/>
            <a:ext cx="50800" cy="128016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0880" y="2651760"/>
            <a:ext cx="10830560" cy="128016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743200"/>
            <a:ext cx="10515600" cy="1097280"/>
          </a:xfrm>
          <a:prstGeom prst="rect">
            <a:avLst/>
          </a:prstGeom>
          <a:noFill/>
        </p:spPr>
        <p:txBody>
          <a:bodyPr wrap="square" anchor="t" lIns="0" rIns="0" tIns="0" bIns="0">
            <a:spAutoFit/>
          </a:bodyPr>
          <a:lstStyle/>
          <a:p>
            <a:pPr algn="l">
              <a:lnSpc>
                <a:spcPct val="115000"/>
              </a:lnSpc>
              <a:spcAft>
                <a:spcPts val="400"/>
              </a:spcAft>
            </a:pPr>
            <a:r>
              <a:rPr sz="1000" b="1" i="0">
                <a:solidFill>
                  <a:srgbClr val="C8102E"/>
                </a:solidFill>
                <a:latin typeface="Calibri"/>
              </a:rPr>
              <a:t>Ban Bí thư · 27/3/2003</a:t>
            </a:r>
          </a:p>
          <a:p>
            <a:pPr algn="l">
              <a:lnSpc>
                <a:spcPct val="115000"/>
              </a:lnSpc>
              <a:spcAft>
                <a:spcPts val="400"/>
              </a:spcAft>
            </a:pPr>
            <a:r>
              <a:rPr sz="1400" b="1" i="0">
                <a:solidFill>
                  <a:srgbClr val="1A1210"/>
                </a:solidFill>
                <a:latin typeface="Georgia"/>
              </a:rPr>
              <a:t>Chỉ thị số 23-CT/TW</a:t>
            </a:r>
          </a:p>
          <a:p>
            <a:pPr>
              <a:lnSpc>
                <a:spcPct val="120000"/>
              </a:lnSpc>
            </a:pPr>
            <a:r>
              <a:rPr sz="1400" b="0">
                <a:solidFill>
                  <a:srgbClr val="3A2A26"/>
                </a:solidFill>
                <a:latin typeface="Calibri"/>
              </a:rPr>
              <a:t>Về đẩy mạnh nghiên cứu, tuyên truyền, giáo dục tư tưởng Hồ Chí Minh trong giai đoạn mới.</a:t>
            </a:r>
          </a:p>
        </p:txBody>
      </p:sp>
      <p:sp>
        <p:nvSpPr>
          <p:cNvPr id="9" name="TextBox 8"/>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17/25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2.4 · VỀ ĐẠI ĐOÀN KẾT, DÂN TỘC VÀ TÔN GIÁO</a:t>
            </a:r>
          </a:p>
        </p:txBody>
      </p:sp>
      <p:sp>
        <p:nvSpPr>
          <p:cNvPr id="3" name="TextBox 2"/>
          <p:cNvSpPr txBox="1"/>
          <p:nvPr/>
        </p:nvSpPr>
        <p:spPr>
          <a:xfrm>
            <a:off x="640080" y="1005840"/>
            <a:ext cx="10881360" cy="365760"/>
          </a:xfrm>
          <a:prstGeom prst="rect">
            <a:avLst/>
          </a:prstGeom>
          <a:noFill/>
        </p:spPr>
        <p:txBody>
          <a:bodyPr wrap="square" anchor="t" lIns="0" rIns="0" tIns="0" bIns="0">
            <a:spAutoFit/>
          </a:bodyPr>
          <a:lstStyle/>
          <a:p>
            <a:pPr algn="l">
              <a:lnSpc>
                <a:spcPct val="115000"/>
              </a:lnSpc>
              <a:spcAft>
                <a:spcPts val="0"/>
              </a:spcAft>
            </a:pPr>
            <a:r>
              <a:rPr sz="1350" b="0" i="0">
                <a:solidFill>
                  <a:srgbClr val="3A2A26"/>
                </a:solidFill>
                <a:latin typeface="Calibri"/>
              </a:rPr>
              <a:t>Hội nghị Trung ương 7 khóa IX (3/2003) ban hành 3 nghị quyết quan trọng:</a:t>
            </a:r>
          </a:p>
        </p:txBody>
      </p:sp>
      <p:sp>
        <p:nvSpPr>
          <p:cNvPr id="4" name="Rounded Rectangle 3"/>
          <p:cNvSpPr/>
          <p:nvPr/>
        </p:nvSpPr>
        <p:spPr>
          <a:xfrm>
            <a:off x="640080" y="1508760"/>
            <a:ext cx="3520440" cy="182880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691640"/>
            <a:ext cx="457200" cy="457200"/>
          </a:xfrm>
          <a:prstGeom prst="roundRect">
            <a:avLst>
              <a:gd name="adj" fmla="val 50000"/>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91640"/>
            <a:ext cx="457200" cy="457200"/>
          </a:xfrm>
          <a:prstGeom prst="rect">
            <a:avLst/>
          </a:prstGeom>
          <a:noFill/>
        </p:spPr>
        <p:txBody>
          <a:bodyPr wrap="square" anchor="ctr" lIns="0" rIns="0" tIns="0" bIns="0">
            <a:spAutoFit/>
          </a:bodyPr>
          <a:lstStyle/>
          <a:p>
            <a:pPr algn="ctr">
              <a:lnSpc>
                <a:spcPct val="115000"/>
              </a:lnSpc>
              <a:spcAft>
                <a:spcPts val="0"/>
              </a:spcAft>
            </a:pPr>
            <a:r>
              <a:rPr sz="1500" b="1" i="0">
                <a:solidFill>
                  <a:srgbClr val="4A0712"/>
                </a:solidFill>
                <a:latin typeface="Calibri"/>
              </a:rPr>
              <a:t>23</a:t>
            </a:r>
          </a:p>
        </p:txBody>
      </p:sp>
      <p:sp>
        <p:nvSpPr>
          <p:cNvPr id="7" name="TextBox 6"/>
          <p:cNvSpPr txBox="1"/>
          <p:nvPr/>
        </p:nvSpPr>
        <p:spPr>
          <a:xfrm>
            <a:off x="822960" y="2286000"/>
            <a:ext cx="3154680" cy="960120"/>
          </a:xfrm>
          <a:prstGeom prst="rect">
            <a:avLst/>
          </a:prstGeom>
          <a:noFill/>
        </p:spPr>
        <p:txBody>
          <a:bodyPr wrap="square" anchor="t" lIns="0" rIns="0" tIns="0" bIns="0">
            <a:spAutoFit/>
          </a:bodyPr>
          <a:lstStyle/>
          <a:p>
            <a:pPr algn="l">
              <a:lnSpc>
                <a:spcPct val="115000"/>
              </a:lnSpc>
              <a:spcAft>
                <a:spcPts val="500"/>
              </a:spcAft>
            </a:pPr>
            <a:r>
              <a:rPr sz="1250" b="1" i="0">
                <a:solidFill>
                  <a:srgbClr val="1A1210"/>
                </a:solidFill>
                <a:latin typeface="Calibri"/>
              </a:rPr>
              <a:t>NQ 23-NQ/TW</a:t>
            </a:r>
          </a:p>
          <a:p>
            <a:pPr algn="l">
              <a:lnSpc>
                <a:spcPct val="120000"/>
              </a:lnSpc>
              <a:spcAft>
                <a:spcPts val="0"/>
              </a:spcAft>
            </a:pPr>
            <a:r>
              <a:rPr sz="1100" b="0" i="0">
                <a:solidFill>
                  <a:srgbClr val="3A2A26"/>
                </a:solidFill>
                <a:latin typeface="Calibri"/>
              </a:rPr>
              <a:t>Phát huy sức mạnh đại đoàn kết toàn dân tộc vì "Dân giàu, nước mạnh, xã hội công bằng, dân chủ, văn minh".</a:t>
            </a:r>
          </a:p>
        </p:txBody>
      </p:sp>
      <p:sp>
        <p:nvSpPr>
          <p:cNvPr id="8" name="Rounded Rectangle 7"/>
          <p:cNvSpPr/>
          <p:nvPr/>
        </p:nvSpPr>
        <p:spPr>
          <a:xfrm>
            <a:off x="4480560" y="1508760"/>
            <a:ext cx="3520440" cy="182880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663440" y="1691640"/>
            <a:ext cx="457200" cy="457200"/>
          </a:xfrm>
          <a:prstGeom prst="roundRect">
            <a:avLst>
              <a:gd name="adj" fmla="val 50000"/>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1691640"/>
            <a:ext cx="457200" cy="457200"/>
          </a:xfrm>
          <a:prstGeom prst="rect">
            <a:avLst/>
          </a:prstGeom>
          <a:noFill/>
        </p:spPr>
        <p:txBody>
          <a:bodyPr wrap="square" anchor="ctr" lIns="0" rIns="0" tIns="0" bIns="0">
            <a:spAutoFit/>
          </a:bodyPr>
          <a:lstStyle/>
          <a:p>
            <a:pPr algn="ctr">
              <a:lnSpc>
                <a:spcPct val="115000"/>
              </a:lnSpc>
              <a:spcAft>
                <a:spcPts val="0"/>
              </a:spcAft>
            </a:pPr>
            <a:r>
              <a:rPr sz="1500" b="1" i="0">
                <a:solidFill>
                  <a:srgbClr val="4A0712"/>
                </a:solidFill>
                <a:latin typeface="Calibri"/>
              </a:rPr>
              <a:t>24</a:t>
            </a:r>
          </a:p>
        </p:txBody>
      </p:sp>
      <p:sp>
        <p:nvSpPr>
          <p:cNvPr id="11" name="TextBox 10"/>
          <p:cNvSpPr txBox="1"/>
          <p:nvPr/>
        </p:nvSpPr>
        <p:spPr>
          <a:xfrm>
            <a:off x="4663440" y="2286000"/>
            <a:ext cx="3154680" cy="960120"/>
          </a:xfrm>
          <a:prstGeom prst="rect">
            <a:avLst/>
          </a:prstGeom>
          <a:noFill/>
        </p:spPr>
        <p:txBody>
          <a:bodyPr wrap="square" anchor="t" lIns="0" rIns="0" tIns="0" bIns="0">
            <a:spAutoFit/>
          </a:bodyPr>
          <a:lstStyle/>
          <a:p>
            <a:pPr algn="l">
              <a:lnSpc>
                <a:spcPct val="115000"/>
              </a:lnSpc>
              <a:spcAft>
                <a:spcPts val="500"/>
              </a:spcAft>
            </a:pPr>
            <a:r>
              <a:rPr sz="1250" b="1" i="0">
                <a:solidFill>
                  <a:srgbClr val="1A1210"/>
                </a:solidFill>
                <a:latin typeface="Calibri"/>
              </a:rPr>
              <a:t>NQ 24-NQ/TW</a:t>
            </a:r>
          </a:p>
          <a:p>
            <a:pPr algn="l">
              <a:lnSpc>
                <a:spcPct val="120000"/>
              </a:lnSpc>
              <a:spcAft>
                <a:spcPts val="0"/>
              </a:spcAft>
            </a:pPr>
            <a:r>
              <a:rPr sz="1100" b="0" i="0">
                <a:solidFill>
                  <a:srgbClr val="3A2A26"/>
                </a:solidFill>
                <a:latin typeface="Calibri"/>
              </a:rPr>
              <a:t>Về công tác dân tộc.</a:t>
            </a:r>
          </a:p>
        </p:txBody>
      </p:sp>
      <p:sp>
        <p:nvSpPr>
          <p:cNvPr id="12" name="Rounded Rectangle 11"/>
          <p:cNvSpPr/>
          <p:nvPr/>
        </p:nvSpPr>
        <p:spPr>
          <a:xfrm>
            <a:off x="8321040" y="1508760"/>
            <a:ext cx="3520440" cy="1828800"/>
          </a:xfrm>
          <a:prstGeom prst="roundRect">
            <a:avLst>
              <a:gd name="adj" fmla="val 6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503920" y="1691640"/>
            <a:ext cx="457200" cy="457200"/>
          </a:xfrm>
          <a:prstGeom prst="roundRect">
            <a:avLst>
              <a:gd name="adj" fmla="val 50000"/>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1691640"/>
            <a:ext cx="457200" cy="457200"/>
          </a:xfrm>
          <a:prstGeom prst="rect">
            <a:avLst/>
          </a:prstGeom>
          <a:noFill/>
        </p:spPr>
        <p:txBody>
          <a:bodyPr wrap="square" anchor="ctr" lIns="0" rIns="0" tIns="0" bIns="0">
            <a:spAutoFit/>
          </a:bodyPr>
          <a:lstStyle/>
          <a:p>
            <a:pPr algn="ctr">
              <a:lnSpc>
                <a:spcPct val="115000"/>
              </a:lnSpc>
              <a:spcAft>
                <a:spcPts val="0"/>
              </a:spcAft>
            </a:pPr>
            <a:r>
              <a:rPr sz="1500" b="1" i="0">
                <a:solidFill>
                  <a:srgbClr val="4A0712"/>
                </a:solidFill>
                <a:latin typeface="Calibri"/>
              </a:rPr>
              <a:t>25</a:t>
            </a:r>
          </a:p>
        </p:txBody>
      </p:sp>
      <p:sp>
        <p:nvSpPr>
          <p:cNvPr id="15" name="TextBox 14"/>
          <p:cNvSpPr txBox="1"/>
          <p:nvPr/>
        </p:nvSpPr>
        <p:spPr>
          <a:xfrm>
            <a:off x="8503920" y="2286000"/>
            <a:ext cx="3154680" cy="960120"/>
          </a:xfrm>
          <a:prstGeom prst="rect">
            <a:avLst/>
          </a:prstGeom>
          <a:noFill/>
        </p:spPr>
        <p:txBody>
          <a:bodyPr wrap="square" anchor="t" lIns="0" rIns="0" tIns="0" bIns="0">
            <a:spAutoFit/>
          </a:bodyPr>
          <a:lstStyle/>
          <a:p>
            <a:pPr algn="l">
              <a:lnSpc>
                <a:spcPct val="115000"/>
              </a:lnSpc>
              <a:spcAft>
                <a:spcPts val="500"/>
              </a:spcAft>
            </a:pPr>
            <a:r>
              <a:rPr sz="1250" b="1" i="0">
                <a:solidFill>
                  <a:srgbClr val="1A1210"/>
                </a:solidFill>
                <a:latin typeface="Calibri"/>
              </a:rPr>
              <a:t>NQ 25-NQ/TW</a:t>
            </a:r>
          </a:p>
          <a:p>
            <a:pPr algn="l">
              <a:lnSpc>
                <a:spcPct val="120000"/>
              </a:lnSpc>
              <a:spcAft>
                <a:spcPts val="0"/>
              </a:spcAft>
            </a:pPr>
            <a:r>
              <a:rPr sz="1100" b="0" i="0">
                <a:solidFill>
                  <a:srgbClr val="3A2A26"/>
                </a:solidFill>
                <a:latin typeface="Calibri"/>
              </a:rPr>
              <a:t>Về công tác tôn giáo.</a:t>
            </a:r>
          </a:p>
        </p:txBody>
      </p:sp>
      <p:sp>
        <p:nvSpPr>
          <p:cNvPr id="16" name="TextBox 15"/>
          <p:cNvSpPr txBox="1"/>
          <p:nvPr/>
        </p:nvSpPr>
        <p:spPr>
          <a:xfrm>
            <a:off x="640080" y="3611880"/>
            <a:ext cx="10881360" cy="822960"/>
          </a:xfrm>
          <a:prstGeom prst="rect">
            <a:avLst/>
          </a:prstGeom>
          <a:noFill/>
        </p:spPr>
        <p:txBody>
          <a:bodyPr wrap="square" anchor="t" lIns="0" rIns="0" tIns="0" bIns="0">
            <a:spAutoFit/>
          </a:bodyPr>
          <a:lstStyle/>
          <a:p>
            <a:pPr>
              <a:lnSpc>
                <a:spcPct val="130000"/>
              </a:lnSpc>
            </a:pPr>
            <a:r>
              <a:rPr sz="1350" b="0">
                <a:solidFill>
                  <a:srgbClr val="3A2A26"/>
                </a:solidFill>
                <a:latin typeface="Calibri"/>
              </a:rPr>
              <a:t>Đại đoàn kết toàn dân tộc là </a:t>
            </a:r>
            <a:r>
              <a:rPr sz="1350" b="1">
                <a:solidFill>
                  <a:srgbClr val="8C0A1F"/>
                </a:solidFill>
                <a:latin typeface="Calibri"/>
              </a:rPr>
              <a:t>đường lối chiến lược</a:t>
            </a:r>
            <a:r>
              <a:rPr sz="1350" b="0">
                <a:solidFill>
                  <a:srgbClr val="3A2A26"/>
                </a:solidFill>
                <a:latin typeface="Calibri"/>
              </a:rPr>
              <a:t> của cách mạng Việt Nam, là nguồn sức mạnh, động lực chủ yếu và nhân tố quyết định thắng lợi bền vững của sự nghiệp xây dựng và bảo vệ Tổ quốc.</a:t>
            </a:r>
          </a:p>
        </p:txBody>
      </p:sp>
      <p:sp>
        <p:nvSpPr>
          <p:cNvPr id="17" name="TextBox 16"/>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18/25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2.4 · CÔNG TÁC ĐỐI VỚI NGƯỜI VIỆT NAM Ở NƯỚC NGOÀI &amp; QUỐC PHÒNG</a:t>
            </a:r>
          </a:p>
        </p:txBody>
      </p:sp>
      <p:sp>
        <p:nvSpPr>
          <p:cNvPr id="3" name="Rectangle 2"/>
          <p:cNvSpPr/>
          <p:nvPr/>
        </p:nvSpPr>
        <p:spPr>
          <a:xfrm>
            <a:off x="640080" y="1463040"/>
            <a:ext cx="5257800" cy="508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13840"/>
            <a:ext cx="5257800" cy="287528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600200"/>
            <a:ext cx="4855464" cy="2651760"/>
          </a:xfrm>
          <a:prstGeom prst="rect">
            <a:avLst/>
          </a:prstGeom>
          <a:noFill/>
        </p:spPr>
        <p:txBody>
          <a:bodyPr wrap="square" anchor="t" lIns="0" rIns="0" tIns="0" bIns="0">
            <a:spAutoFit/>
          </a:bodyPr>
          <a:lstStyle/>
          <a:p>
            <a:pPr algn="l">
              <a:lnSpc>
                <a:spcPct val="115000"/>
              </a:lnSpc>
              <a:spcAft>
                <a:spcPts val="600"/>
              </a:spcAft>
            </a:pPr>
            <a:r>
              <a:rPr sz="1450" b="1" i="0">
                <a:solidFill>
                  <a:srgbClr val="8C0A1F"/>
                </a:solidFill>
                <a:latin typeface="Georgia"/>
              </a:rPr>
              <a:t>🌏 Kiều bào</a:t>
            </a:r>
          </a:p>
          <a:p>
            <a:pPr>
              <a:lnSpc>
                <a:spcPct val="125000"/>
              </a:lnSpc>
            </a:pPr>
            <a:r>
              <a:rPr sz="1350" b="1">
                <a:solidFill>
                  <a:srgbClr val="1A1210"/>
                </a:solidFill>
                <a:latin typeface="Calibri"/>
              </a:rPr>
              <a:t>Nghị quyết số 36-NQ/TW</a:t>
            </a:r>
            <a:r>
              <a:rPr sz="1350" b="0">
                <a:solidFill>
                  <a:srgbClr val="3A2A26"/>
                </a:solidFill>
                <a:latin typeface="Calibri"/>
              </a:rPr>
              <a:t> (Bộ Chính trị khóa IX, 26/3/2004) chủ trương coi người Việt Nam ở nước ngoài là </a:t>
            </a:r>
            <a:r>
              <a:rPr sz="1350" b="1">
                <a:solidFill>
                  <a:srgbClr val="1A1210"/>
                </a:solidFill>
                <a:latin typeface="Calibri"/>
              </a:rPr>
              <a:t>bộ phận không tách rời</a:t>
            </a:r>
            <a:r>
              <a:rPr sz="1350" b="0">
                <a:solidFill>
                  <a:srgbClr val="3A2A26"/>
                </a:solidFill>
                <a:latin typeface="Calibri"/>
              </a:rPr>
              <a:t>, là </a:t>
            </a:r>
            <a:r>
              <a:rPr sz="1350" b="1">
                <a:solidFill>
                  <a:srgbClr val="1A1210"/>
                </a:solidFill>
                <a:latin typeface="Calibri"/>
              </a:rPr>
              <a:t>nguồn lực của cộng đồng dân tộc Việt Nam</a:t>
            </a:r>
            <a:r>
              <a:rPr sz="1350" b="0">
                <a:solidFill>
                  <a:srgbClr val="3A2A26"/>
                </a:solidFill>
                <a:latin typeface="Calibri"/>
              </a:rPr>
              <a:t>.</a:t>
            </a:r>
          </a:p>
        </p:txBody>
      </p:sp>
      <p:sp>
        <p:nvSpPr>
          <p:cNvPr id="6" name="Rectangle 5"/>
          <p:cNvSpPr/>
          <p:nvPr/>
        </p:nvSpPr>
        <p:spPr>
          <a:xfrm>
            <a:off x="6263640" y="1463040"/>
            <a:ext cx="5257800" cy="508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63640" y="1513840"/>
            <a:ext cx="5257800" cy="287528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4808" y="1600200"/>
            <a:ext cx="4855464" cy="2651760"/>
          </a:xfrm>
          <a:prstGeom prst="rect">
            <a:avLst/>
          </a:prstGeom>
          <a:noFill/>
        </p:spPr>
        <p:txBody>
          <a:bodyPr wrap="square" anchor="t" lIns="0" rIns="0" tIns="0" bIns="0">
            <a:spAutoFit/>
          </a:bodyPr>
          <a:lstStyle/>
          <a:p>
            <a:pPr algn="l">
              <a:lnSpc>
                <a:spcPct val="115000"/>
              </a:lnSpc>
              <a:spcAft>
                <a:spcPts val="600"/>
              </a:spcAft>
            </a:pPr>
            <a:r>
              <a:rPr sz="1450" b="1" i="0">
                <a:solidFill>
                  <a:srgbClr val="8C0A1F"/>
                </a:solidFill>
                <a:latin typeface="Georgia"/>
              </a:rPr>
              <a:t>🛡 Quốc phòng</a:t>
            </a:r>
          </a:p>
          <a:p>
            <a:pPr>
              <a:lnSpc>
                <a:spcPct val="125000"/>
              </a:lnSpc>
            </a:pPr>
            <a:r>
              <a:rPr sz="1350" b="0">
                <a:solidFill>
                  <a:srgbClr val="3A2A26"/>
                </a:solidFill>
                <a:latin typeface="Calibri"/>
              </a:rPr>
              <a:t>Hội nghị TW 8 khóa IX (7/2003) ban hành </a:t>
            </a:r>
            <a:r>
              <a:rPr sz="1350" b="1">
                <a:solidFill>
                  <a:srgbClr val="1A1210"/>
                </a:solidFill>
                <a:latin typeface="Calibri"/>
              </a:rPr>
              <a:t>Chiến lược bảo vệ Tổ quốc trong tình hình mới</a:t>
            </a:r>
            <a:r>
              <a:rPr sz="1350" b="0">
                <a:solidFill>
                  <a:srgbClr val="3A2A26"/>
                </a:solidFill>
                <a:latin typeface="Calibri"/>
              </a:rPr>
              <a:t>, đưa ra các nhiệm vụ cơ bản và giải pháp chủ yếu bảo vệ Tổ quốc trong tình hình mới.</a:t>
            </a:r>
          </a:p>
        </p:txBody>
      </p:sp>
      <p:sp>
        <p:nvSpPr>
          <p:cNvPr id="9" name="TextBox 8"/>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19/25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4A0712"/>
        </a:solidFill>
        <a:effectLst/>
      </p:bgPr>
    </p:bg>
    <p:spTree>
      <p:nvGrpSpPr>
        <p:cNvPr id="1" name=""/>
        <p:cNvGrpSpPr/>
        <p:nvPr/>
      </p:nvGrpSpPr>
      <p:grpSpPr/>
      <p:sp>
        <p:nvSpPr>
          <p:cNvPr id="2" name="TextBox 1"/>
          <p:cNvSpPr txBox="1"/>
          <p:nvPr/>
        </p:nvSpPr>
        <p:spPr>
          <a:xfrm>
            <a:off x="914400" y="2103120"/>
            <a:ext cx="5486400" cy="457200"/>
          </a:xfrm>
          <a:prstGeom prst="rect">
            <a:avLst/>
          </a:prstGeom>
          <a:noFill/>
        </p:spPr>
        <p:txBody>
          <a:bodyPr wrap="square" anchor="t" lIns="0" rIns="0" tIns="0" bIns="0">
            <a:spAutoFit/>
          </a:bodyPr>
          <a:lstStyle/>
          <a:p>
            <a:pPr algn="l">
              <a:lnSpc>
                <a:spcPct val="115000"/>
              </a:lnSpc>
              <a:spcAft>
                <a:spcPts val="0"/>
              </a:spcAft>
            </a:pPr>
            <a:r>
              <a:rPr sz="1500" b="1" i="0">
                <a:solidFill>
                  <a:srgbClr val="FFCD00"/>
                </a:solidFill>
                <a:latin typeface="Calibri"/>
              </a:rPr>
              <a:t>PHẦN 3</a:t>
            </a:r>
          </a:p>
        </p:txBody>
      </p:sp>
      <p:sp>
        <p:nvSpPr>
          <p:cNvPr id="3" name="TextBox 2"/>
          <p:cNvSpPr txBox="1"/>
          <p:nvPr/>
        </p:nvSpPr>
        <p:spPr>
          <a:xfrm>
            <a:off x="914400" y="2606040"/>
            <a:ext cx="9601200" cy="1463040"/>
          </a:xfrm>
          <a:prstGeom prst="rect">
            <a:avLst/>
          </a:prstGeom>
          <a:noFill/>
        </p:spPr>
        <p:txBody>
          <a:bodyPr wrap="square" anchor="t" lIns="0" rIns="0" tIns="0" bIns="0">
            <a:spAutoFit/>
          </a:bodyPr>
          <a:lstStyle/>
          <a:p>
            <a:pPr algn="l">
              <a:lnSpc>
                <a:spcPct val="115000"/>
              </a:lnSpc>
              <a:spcAft>
                <a:spcPts val="600"/>
              </a:spcAft>
            </a:pPr>
            <a:r>
              <a:rPr sz="4400" b="1" i="0">
                <a:solidFill>
                  <a:srgbClr val="FFFFFF"/>
                </a:solidFill>
                <a:latin typeface="Georgia"/>
              </a:rPr>
              <a:t>Tổng kết chặng đường lịch sử </a:t>
            </a:r>
            <a:r>
              <a:rPr sz="2400" b="0" i="0">
                <a:solidFill>
                  <a:srgbClr val="F4DD8A"/>
                </a:solidFill>
                <a:latin typeface="Georgia"/>
              </a:rPr>
              <a:t/>
            </a:r>
          </a:p>
        </p:txBody>
      </p:sp>
      <p:sp>
        <p:nvSpPr>
          <p:cNvPr id="4" name="TextBox 3"/>
          <p:cNvSpPr txBox="1"/>
          <p:nvPr/>
        </p:nvSpPr>
        <p:spPr>
          <a:xfrm>
            <a:off x="914400" y="3749039"/>
            <a:ext cx="8229600" cy="822960"/>
          </a:xfrm>
          <a:prstGeom prst="rect">
            <a:avLst/>
          </a:prstGeom>
          <a:noFill/>
        </p:spPr>
        <p:txBody>
          <a:bodyPr wrap="square" anchor="t" lIns="0" rIns="0" tIns="0" bIns="0">
            <a:spAutoFit/>
          </a:bodyPr>
          <a:lstStyle/>
          <a:p>
            <a:pPr algn="l">
              <a:lnSpc>
                <a:spcPct val="115000"/>
              </a:lnSpc>
              <a:spcAft>
                <a:spcPts val="0"/>
              </a:spcAft>
            </a:pPr>
            <a:r>
              <a:rPr sz="1600" b="0" i="0">
                <a:solidFill>
                  <a:srgbClr val="EEDDDD"/>
                </a:solidFill>
                <a:latin typeface="Calibri"/>
              </a:rPr>
              <a:t>Đại hội VIII &amp; Đại hội IX — và những bài học kinh nghiệm</a:t>
            </a:r>
          </a:p>
        </p:txBody>
      </p:sp>
      <p:sp>
        <p:nvSpPr>
          <p:cNvPr id="5" name="TextBox 4"/>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20/25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01 · KHẲNG ĐỊNH BƯỚC CHUYỂN MÌNH MANG TÍNH LỊCH SỬ</a:t>
            </a:r>
          </a:p>
        </p:txBody>
      </p:sp>
      <p:sp>
        <p:nvSpPr>
          <p:cNvPr id="3" name="Rectangle 2"/>
          <p:cNvSpPr/>
          <p:nvPr/>
        </p:nvSpPr>
        <p:spPr>
          <a:xfrm>
            <a:off x="640080" y="1097280"/>
            <a:ext cx="50800" cy="1005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90880" y="1097280"/>
            <a:ext cx="10830560" cy="1005840"/>
          </a:xfrm>
          <a:prstGeom prst="rect">
            <a:avLst/>
          </a:prstGeom>
          <a:solidFill>
            <a:srgbClr val="FC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207008"/>
            <a:ext cx="10378440" cy="786384"/>
          </a:xfrm>
          <a:prstGeom prst="rect">
            <a:avLst/>
          </a:prstGeom>
          <a:noFill/>
        </p:spPr>
        <p:txBody>
          <a:bodyPr wrap="square" anchor="ctr" lIns="0" rIns="0" tIns="0" bIns="0">
            <a:spAutoFit/>
          </a:bodyPr>
          <a:lstStyle/>
          <a:p>
            <a:pPr>
              <a:lnSpc>
                <a:spcPct val="130000"/>
              </a:lnSpc>
            </a:pPr>
            <a:r>
              <a:rPr sz="1500" b="0">
                <a:solidFill>
                  <a:srgbClr val="1A1210"/>
                </a:solidFill>
                <a:latin typeface="Calibri"/>
              </a:rPr>
              <a:t>Đánh dấu cột mốc vĩ đại khi Việt Nam chính thức tuyên bố </a:t>
            </a:r>
            <a:r>
              <a:rPr sz="1500" b="1">
                <a:solidFill>
                  <a:srgbClr val="8C0A1F"/>
                </a:solidFill>
                <a:latin typeface="Calibri"/>
              </a:rPr>
              <a:t>thoát khỏi khủng hoảng kinh tế – xã hội</a:t>
            </a:r>
            <a:r>
              <a:rPr sz="1500" b="0">
                <a:solidFill>
                  <a:srgbClr val="1A1210"/>
                </a:solidFill>
                <a:latin typeface="Calibri"/>
              </a:rPr>
              <a:t> kéo dài.</a:t>
            </a:r>
          </a:p>
        </p:txBody>
      </p:sp>
      <p:sp>
        <p:nvSpPr>
          <p:cNvPr id="6" name="Rounded Rectangle 5"/>
          <p:cNvSpPr/>
          <p:nvPr/>
        </p:nvSpPr>
        <p:spPr>
          <a:xfrm>
            <a:off x="640080" y="2468880"/>
            <a:ext cx="5029200" cy="1188720"/>
          </a:xfrm>
          <a:prstGeom prst="roundRect">
            <a:avLst>
              <a:gd name="adj" fmla="val 8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651760"/>
            <a:ext cx="4480560" cy="822960"/>
          </a:xfrm>
          <a:prstGeom prst="rect">
            <a:avLst/>
          </a:prstGeom>
          <a:noFill/>
        </p:spPr>
        <p:txBody>
          <a:bodyPr wrap="square" anchor="ctr" lIns="0" rIns="0" tIns="0" bIns="0">
            <a:spAutoFit/>
          </a:bodyPr>
          <a:lstStyle/>
          <a:p>
            <a:pPr algn="l">
              <a:lnSpc>
                <a:spcPct val="130000"/>
              </a:lnSpc>
              <a:spcAft>
                <a:spcPts val="0"/>
              </a:spcAft>
            </a:pPr>
            <a:r>
              <a:rPr sz="1350" b="0" i="0">
                <a:solidFill>
                  <a:srgbClr val="3A2A26"/>
                </a:solidFill>
                <a:latin typeface="Calibri"/>
              </a:rPr>
              <a:t>Bảo đảm sự sinh tồn &amp; ổn định đất nước</a:t>
            </a:r>
          </a:p>
        </p:txBody>
      </p:sp>
      <p:sp>
        <p:nvSpPr>
          <p:cNvPr id="8" name="TextBox 7"/>
          <p:cNvSpPr txBox="1"/>
          <p:nvPr/>
        </p:nvSpPr>
        <p:spPr>
          <a:xfrm>
            <a:off x="5760720" y="2468880"/>
            <a:ext cx="548640" cy="1188720"/>
          </a:xfrm>
          <a:prstGeom prst="rect">
            <a:avLst/>
          </a:prstGeom>
          <a:noFill/>
        </p:spPr>
        <p:txBody>
          <a:bodyPr wrap="square" anchor="ctr" lIns="0" rIns="0" tIns="0" bIns="0">
            <a:spAutoFit/>
          </a:bodyPr>
          <a:lstStyle/>
          <a:p>
            <a:pPr algn="ctr">
              <a:lnSpc>
                <a:spcPct val="115000"/>
              </a:lnSpc>
              <a:spcAft>
                <a:spcPts val="0"/>
              </a:spcAft>
            </a:pPr>
            <a:r>
              <a:rPr sz="2600" b="1" i="0">
                <a:solidFill>
                  <a:srgbClr val="FFCD00"/>
                </a:solidFill>
                <a:latin typeface="Calibri"/>
              </a:rPr>
              <a:t>→</a:t>
            </a:r>
          </a:p>
        </p:txBody>
      </p:sp>
      <p:sp>
        <p:nvSpPr>
          <p:cNvPr id="9" name="Rounded Rectangle 8"/>
          <p:cNvSpPr/>
          <p:nvPr/>
        </p:nvSpPr>
        <p:spPr>
          <a:xfrm>
            <a:off x="6309360" y="2468880"/>
            <a:ext cx="5029200" cy="1188720"/>
          </a:xfrm>
          <a:prstGeom prst="roundRect">
            <a:avLst>
              <a:gd name="adj" fmla="val 8000"/>
            </a:avLst>
          </a:prstGeom>
          <a:solidFill>
            <a:srgbClr val="8C0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606040"/>
            <a:ext cx="4480560" cy="914400"/>
          </a:xfrm>
          <a:prstGeom prst="rect">
            <a:avLst/>
          </a:prstGeom>
          <a:noFill/>
        </p:spPr>
        <p:txBody>
          <a:bodyPr wrap="square" anchor="ctr" lIns="0" rIns="0" tIns="0" bIns="0">
            <a:spAutoFit/>
          </a:bodyPr>
          <a:lstStyle/>
          <a:p>
            <a:pPr algn="l">
              <a:lnSpc>
                <a:spcPct val="130000"/>
              </a:lnSpc>
              <a:spcAft>
                <a:spcPts val="0"/>
              </a:spcAft>
            </a:pPr>
            <a:r>
              <a:rPr sz="1350" b="0" i="0">
                <a:solidFill>
                  <a:srgbClr val="FFFFFF"/>
                </a:solidFill>
                <a:latin typeface="Calibri"/>
              </a:rPr>
              <a:t>Thời kỳ đẩy mạnh CNH, HĐH — tiền đề hội nhập kinh tế quốc tế</a:t>
            </a:r>
          </a:p>
        </p:txBody>
      </p:sp>
      <p:sp>
        <p:nvSpPr>
          <p:cNvPr id="11" name="TextBox 10"/>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21/25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02 · SỰ HOÀN THIỆN VÀ ĐỘT PHÁ VỀ TƯ DUY LÝ LUẬN</a:t>
            </a:r>
          </a:p>
        </p:txBody>
      </p:sp>
      <p:sp>
        <p:nvSpPr>
          <p:cNvPr id="3" name="TextBox 2"/>
          <p:cNvSpPr txBox="1"/>
          <p:nvPr/>
        </p:nvSpPr>
        <p:spPr>
          <a:xfrm>
            <a:off x="640080" y="1005840"/>
            <a:ext cx="10881360" cy="365760"/>
          </a:xfrm>
          <a:prstGeom prst="rect">
            <a:avLst/>
          </a:prstGeom>
          <a:noFill/>
        </p:spPr>
        <p:txBody>
          <a:bodyPr wrap="square" anchor="t" lIns="0" rIns="0" tIns="0" bIns="0">
            <a:spAutoFit/>
          </a:bodyPr>
          <a:lstStyle/>
          <a:p>
            <a:pPr algn="l">
              <a:lnSpc>
                <a:spcPct val="115000"/>
              </a:lnSpc>
              <a:spcAft>
                <a:spcPts val="0"/>
              </a:spcAft>
            </a:pPr>
            <a:r>
              <a:rPr sz="1350" b="0" i="0">
                <a:solidFill>
                  <a:srgbClr val="3A2A26"/>
                </a:solidFill>
                <a:latin typeface="Calibri"/>
              </a:rPr>
              <a:t>Hai kỳ Đại hội đánh dấu sự trưởng thành vượt bậc về lý luận của Đảng:</a:t>
            </a:r>
          </a:p>
        </p:txBody>
      </p:sp>
      <p:sp>
        <p:nvSpPr>
          <p:cNvPr id="4" name="Rectangle 3"/>
          <p:cNvSpPr/>
          <p:nvPr/>
        </p:nvSpPr>
        <p:spPr>
          <a:xfrm>
            <a:off x="640080" y="1554480"/>
            <a:ext cx="5257800" cy="5080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605280"/>
            <a:ext cx="5257800" cy="196088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691640"/>
            <a:ext cx="4855464" cy="1737360"/>
          </a:xfrm>
          <a:prstGeom prst="rect">
            <a:avLst/>
          </a:prstGeom>
          <a:noFill/>
        </p:spPr>
        <p:txBody>
          <a:bodyPr wrap="square" anchor="t" lIns="0" rIns="0" tIns="0" bIns="0">
            <a:spAutoFit/>
          </a:bodyPr>
          <a:lstStyle/>
          <a:p>
            <a:pPr algn="l">
              <a:lnSpc>
                <a:spcPct val="115000"/>
              </a:lnSpc>
              <a:spcAft>
                <a:spcPts val="600"/>
              </a:spcAft>
            </a:pPr>
            <a:r>
              <a:rPr sz="1450" b="1" i="0">
                <a:solidFill>
                  <a:srgbClr val="8C0A1F"/>
                </a:solidFill>
                <a:latin typeface="Georgia"/>
              </a:rPr>
              <a:t>Nền tảng tư tưởng</a:t>
            </a:r>
          </a:p>
          <a:p>
            <a:pPr>
              <a:lnSpc>
                <a:spcPct val="125000"/>
              </a:lnSpc>
            </a:pPr>
            <a:r>
              <a:rPr sz="1400" b="0">
                <a:solidFill>
                  <a:srgbClr val="3A2A26"/>
                </a:solidFill>
                <a:latin typeface="Calibri"/>
              </a:rPr>
              <a:t>Chính thức xác định </a:t>
            </a:r>
            <a:r>
              <a:rPr sz="1400" b="1">
                <a:solidFill>
                  <a:srgbClr val="1A1210"/>
                </a:solidFill>
                <a:latin typeface="Calibri"/>
              </a:rPr>
              <a:t>chủ nghĩa Mác – Lênin</a:t>
            </a:r>
            <a:r>
              <a:rPr sz="1400" b="0">
                <a:solidFill>
                  <a:srgbClr val="3A2A26"/>
                </a:solidFill>
                <a:latin typeface="Calibri"/>
              </a:rPr>
              <a:t> và </a:t>
            </a:r>
            <a:r>
              <a:rPr sz="1400" b="1">
                <a:solidFill>
                  <a:srgbClr val="1A1210"/>
                </a:solidFill>
                <a:latin typeface="Calibri"/>
              </a:rPr>
              <a:t>tư tưởng Hồ Chí Minh</a:t>
            </a:r>
            <a:r>
              <a:rPr sz="1400" b="0">
                <a:solidFill>
                  <a:srgbClr val="3A2A26"/>
                </a:solidFill>
                <a:latin typeface="Calibri"/>
              </a:rPr>
              <a:t> là nền tảng tư tưởng.</a:t>
            </a:r>
          </a:p>
        </p:txBody>
      </p:sp>
      <p:sp>
        <p:nvSpPr>
          <p:cNvPr id="7" name="Rectangle 6"/>
          <p:cNvSpPr/>
          <p:nvPr/>
        </p:nvSpPr>
        <p:spPr>
          <a:xfrm>
            <a:off x="6263640" y="1554480"/>
            <a:ext cx="5257800" cy="5080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63640" y="1605280"/>
            <a:ext cx="5257800" cy="196088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4808" y="1691640"/>
            <a:ext cx="4855464" cy="1737360"/>
          </a:xfrm>
          <a:prstGeom prst="rect">
            <a:avLst/>
          </a:prstGeom>
          <a:noFill/>
        </p:spPr>
        <p:txBody>
          <a:bodyPr wrap="square" anchor="t" lIns="0" rIns="0" tIns="0" bIns="0">
            <a:spAutoFit/>
          </a:bodyPr>
          <a:lstStyle/>
          <a:p>
            <a:pPr algn="l">
              <a:lnSpc>
                <a:spcPct val="115000"/>
              </a:lnSpc>
              <a:spcAft>
                <a:spcPts val="600"/>
              </a:spcAft>
            </a:pPr>
            <a:r>
              <a:rPr sz="1450" b="1" i="0">
                <a:solidFill>
                  <a:srgbClr val="8C0A1F"/>
                </a:solidFill>
                <a:latin typeface="Georgia"/>
              </a:rPr>
              <a:t>Mô hình kinh tế</a:t>
            </a:r>
          </a:p>
          <a:p>
            <a:pPr>
              <a:lnSpc>
                <a:spcPct val="125000"/>
              </a:lnSpc>
            </a:pPr>
            <a:r>
              <a:rPr sz="1400" b="0">
                <a:solidFill>
                  <a:srgbClr val="3A2A26"/>
                </a:solidFill>
                <a:latin typeface="Calibri"/>
              </a:rPr>
              <a:t>Xác lập </a:t>
            </a:r>
            <a:r>
              <a:rPr sz="1400" b="1">
                <a:solidFill>
                  <a:srgbClr val="1A1210"/>
                </a:solidFill>
                <a:latin typeface="Calibri"/>
              </a:rPr>
              <a:t>"Kinh tế thị trường định hướng xã hội chủ nghĩa"</a:t>
            </a:r>
            <a:r>
              <a:rPr sz="1400" b="0">
                <a:solidFill>
                  <a:srgbClr val="3A2A26"/>
                </a:solidFill>
                <a:latin typeface="Calibri"/>
              </a:rPr>
              <a:t> — chìa khóa vàng phát triển nhanh, không chệch hướng XHCN.</a:t>
            </a:r>
          </a:p>
        </p:txBody>
      </p:sp>
      <p:sp>
        <p:nvSpPr>
          <p:cNvPr id="10" name="TextBox 9"/>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22/25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03 · ĐẶT CON NGƯỜI VÀ ĐẠI ĐOÀN KẾT TOÀN DÂN TỘC LÀM TRUNG TÂM</a:t>
            </a:r>
          </a:p>
        </p:txBody>
      </p:sp>
      <p:sp>
        <p:nvSpPr>
          <p:cNvPr id="3" name="Rectangle 2"/>
          <p:cNvSpPr/>
          <p:nvPr/>
        </p:nvSpPr>
        <p:spPr>
          <a:xfrm>
            <a:off x="640080" y="1051560"/>
            <a:ext cx="50800" cy="91440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90880" y="1051560"/>
            <a:ext cx="10830560" cy="91440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161288"/>
            <a:ext cx="10378440" cy="694944"/>
          </a:xfrm>
          <a:prstGeom prst="rect">
            <a:avLst/>
          </a:prstGeom>
          <a:noFill/>
        </p:spPr>
        <p:txBody>
          <a:bodyPr wrap="square" anchor="ctr" lIns="0" rIns="0" tIns="0" bIns="0">
            <a:spAutoFit/>
          </a:bodyPr>
          <a:lstStyle/>
          <a:p>
            <a:pPr>
              <a:lnSpc>
                <a:spcPct val="130000"/>
              </a:lnSpc>
            </a:pPr>
            <a:r>
              <a:rPr sz="1600" i="1" b="0">
                <a:solidFill>
                  <a:srgbClr val="1A1210"/>
                </a:solidFill>
                <a:latin typeface="Calibri"/>
              </a:rPr>
              <a:t>Con người vừa là </a:t>
            </a:r>
            <a:r>
              <a:rPr sz="1600" i="0" b="1">
                <a:solidFill>
                  <a:srgbClr val="8C0A1F"/>
                </a:solidFill>
                <a:latin typeface="Calibri"/>
              </a:rPr>
              <a:t>mục tiêu</a:t>
            </a:r>
            <a:r>
              <a:rPr sz="1600" i="1" b="0">
                <a:solidFill>
                  <a:srgbClr val="1A1210"/>
                </a:solidFill>
                <a:latin typeface="Calibri"/>
              </a:rPr>
              <a:t>, vừa là </a:t>
            </a:r>
            <a:r>
              <a:rPr sz="1600" i="0" b="1">
                <a:solidFill>
                  <a:srgbClr val="8C0A1F"/>
                </a:solidFill>
                <a:latin typeface="Calibri"/>
              </a:rPr>
              <a:t>động lực</a:t>
            </a:r>
            <a:r>
              <a:rPr sz="1600" i="1" b="0">
                <a:solidFill>
                  <a:srgbClr val="1A1210"/>
                </a:solidFill>
                <a:latin typeface="Calibri"/>
              </a:rPr>
              <a:t> của sự phát triển.</a:t>
            </a:r>
          </a:p>
        </p:txBody>
      </p:sp>
      <p:sp>
        <p:nvSpPr>
          <p:cNvPr id="6" name="Rounded Rectangle 5"/>
          <p:cNvSpPr/>
          <p:nvPr/>
        </p:nvSpPr>
        <p:spPr>
          <a:xfrm>
            <a:off x="640080" y="2148840"/>
            <a:ext cx="2606040" cy="1051560"/>
          </a:xfrm>
          <a:prstGeom prst="roundRect">
            <a:avLst>
              <a:gd name="adj" fmla="val 12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40280"/>
            <a:ext cx="2514600" cy="868680"/>
          </a:xfrm>
          <a:prstGeom prst="rect">
            <a:avLst/>
          </a:prstGeom>
          <a:noFill/>
        </p:spPr>
        <p:txBody>
          <a:bodyPr wrap="square" anchor="ctr" lIns="0" rIns="0" tIns="0" bIns="0">
            <a:spAutoFit/>
          </a:bodyPr>
          <a:lstStyle/>
          <a:p>
            <a:pPr algn="ctr">
              <a:lnSpc>
                <a:spcPct val="115000"/>
              </a:lnSpc>
              <a:spcAft>
                <a:spcPts val="400"/>
              </a:spcAft>
            </a:pPr>
            <a:r>
              <a:rPr sz="2200" b="0" i="0">
                <a:solidFill>
                  <a:srgbClr val="1A1210"/>
                </a:solidFill>
                <a:latin typeface="Calibri"/>
              </a:rPr>
              <a:t>🎓</a:t>
            </a:r>
          </a:p>
          <a:p>
            <a:pPr algn="ctr">
              <a:lnSpc>
                <a:spcPct val="115000"/>
              </a:lnSpc>
              <a:spcAft>
                <a:spcPts val="0"/>
              </a:spcAft>
            </a:pPr>
            <a:r>
              <a:rPr sz="1050" b="1" i="0">
                <a:solidFill>
                  <a:srgbClr val="3A2A26"/>
                </a:solidFill>
                <a:latin typeface="Calibri"/>
              </a:rPr>
              <a:t>Giáo dục &amp; KH là quốc sách hàng đầu</a:t>
            </a:r>
          </a:p>
        </p:txBody>
      </p:sp>
      <p:sp>
        <p:nvSpPr>
          <p:cNvPr id="8" name="Rounded Rectangle 7"/>
          <p:cNvSpPr/>
          <p:nvPr/>
        </p:nvSpPr>
        <p:spPr>
          <a:xfrm>
            <a:off x="3383280" y="2148840"/>
            <a:ext cx="2606040" cy="1051560"/>
          </a:xfrm>
          <a:prstGeom prst="roundRect">
            <a:avLst>
              <a:gd name="adj" fmla="val 12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9000" y="2240280"/>
            <a:ext cx="2514600" cy="868680"/>
          </a:xfrm>
          <a:prstGeom prst="rect">
            <a:avLst/>
          </a:prstGeom>
          <a:noFill/>
        </p:spPr>
        <p:txBody>
          <a:bodyPr wrap="square" anchor="ctr" lIns="0" rIns="0" tIns="0" bIns="0">
            <a:spAutoFit/>
          </a:bodyPr>
          <a:lstStyle/>
          <a:p>
            <a:pPr algn="ctr">
              <a:lnSpc>
                <a:spcPct val="115000"/>
              </a:lnSpc>
              <a:spcAft>
                <a:spcPts val="400"/>
              </a:spcAft>
            </a:pPr>
            <a:r>
              <a:rPr sz="2200" b="0" i="0">
                <a:solidFill>
                  <a:srgbClr val="1A1210"/>
                </a:solidFill>
                <a:latin typeface="Calibri"/>
              </a:rPr>
              <a:t>🎭</a:t>
            </a:r>
          </a:p>
          <a:p>
            <a:pPr algn="ctr">
              <a:lnSpc>
                <a:spcPct val="115000"/>
              </a:lnSpc>
              <a:spcAft>
                <a:spcPts val="0"/>
              </a:spcAft>
            </a:pPr>
            <a:r>
              <a:rPr sz="1050" b="1" i="0">
                <a:solidFill>
                  <a:srgbClr val="3A2A26"/>
                </a:solidFill>
                <a:latin typeface="Calibri"/>
              </a:rPr>
              <a:t>Tuyên ngôn Văn hóa</a:t>
            </a:r>
          </a:p>
        </p:txBody>
      </p:sp>
      <p:sp>
        <p:nvSpPr>
          <p:cNvPr id="10" name="Rounded Rectangle 9"/>
          <p:cNvSpPr/>
          <p:nvPr/>
        </p:nvSpPr>
        <p:spPr>
          <a:xfrm>
            <a:off x="6126480" y="2148840"/>
            <a:ext cx="2606040" cy="1051560"/>
          </a:xfrm>
          <a:prstGeom prst="roundRect">
            <a:avLst>
              <a:gd name="adj" fmla="val 12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2240280"/>
            <a:ext cx="2514600" cy="868680"/>
          </a:xfrm>
          <a:prstGeom prst="rect">
            <a:avLst/>
          </a:prstGeom>
          <a:noFill/>
        </p:spPr>
        <p:txBody>
          <a:bodyPr wrap="square" anchor="ctr" lIns="0" rIns="0" tIns="0" bIns="0">
            <a:spAutoFit/>
          </a:bodyPr>
          <a:lstStyle/>
          <a:p>
            <a:pPr algn="ctr">
              <a:lnSpc>
                <a:spcPct val="115000"/>
              </a:lnSpc>
              <a:spcAft>
                <a:spcPts val="400"/>
              </a:spcAft>
            </a:pPr>
            <a:r>
              <a:rPr sz="2200" b="0" i="0">
                <a:solidFill>
                  <a:srgbClr val="1A1210"/>
                </a:solidFill>
                <a:latin typeface="Calibri"/>
              </a:rPr>
              <a:t>🗳</a:t>
            </a:r>
          </a:p>
          <a:p>
            <a:pPr algn="ctr">
              <a:lnSpc>
                <a:spcPct val="115000"/>
              </a:lnSpc>
              <a:spcAft>
                <a:spcPts val="0"/>
              </a:spcAft>
            </a:pPr>
            <a:r>
              <a:rPr sz="1050" b="1" i="0">
                <a:solidFill>
                  <a:srgbClr val="3A2A26"/>
                </a:solidFill>
                <a:latin typeface="Calibri"/>
              </a:rPr>
              <a:t>Quy chế dân chủ ở cơ sở</a:t>
            </a:r>
          </a:p>
        </p:txBody>
      </p:sp>
      <p:sp>
        <p:nvSpPr>
          <p:cNvPr id="12" name="Rounded Rectangle 11"/>
          <p:cNvSpPr/>
          <p:nvPr/>
        </p:nvSpPr>
        <p:spPr>
          <a:xfrm>
            <a:off x="8869680" y="2148840"/>
            <a:ext cx="2606040" cy="1051560"/>
          </a:xfrm>
          <a:prstGeom prst="roundRect">
            <a:avLst>
              <a:gd name="adj" fmla="val 12000"/>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15400" y="2240280"/>
            <a:ext cx="2514600" cy="868680"/>
          </a:xfrm>
          <a:prstGeom prst="rect">
            <a:avLst/>
          </a:prstGeom>
          <a:noFill/>
        </p:spPr>
        <p:txBody>
          <a:bodyPr wrap="square" anchor="ctr" lIns="0" rIns="0" tIns="0" bIns="0">
            <a:spAutoFit/>
          </a:bodyPr>
          <a:lstStyle/>
          <a:p>
            <a:pPr algn="ctr">
              <a:lnSpc>
                <a:spcPct val="115000"/>
              </a:lnSpc>
              <a:spcAft>
                <a:spcPts val="400"/>
              </a:spcAft>
            </a:pPr>
            <a:r>
              <a:rPr sz="2200" b="0" i="0">
                <a:solidFill>
                  <a:srgbClr val="1A1210"/>
                </a:solidFill>
                <a:latin typeface="Calibri"/>
              </a:rPr>
              <a:t>🤝</a:t>
            </a:r>
          </a:p>
          <a:p>
            <a:pPr algn="ctr">
              <a:lnSpc>
                <a:spcPct val="115000"/>
              </a:lnSpc>
              <a:spcAft>
                <a:spcPts val="0"/>
              </a:spcAft>
            </a:pPr>
            <a:r>
              <a:rPr sz="1050" b="1" i="0">
                <a:solidFill>
                  <a:srgbClr val="3A2A26"/>
                </a:solidFill>
                <a:latin typeface="Calibri"/>
              </a:rPr>
              <a:t>Đại đoàn kết toàn dân tộc</a:t>
            </a:r>
          </a:p>
        </p:txBody>
      </p:sp>
      <p:sp>
        <p:nvSpPr>
          <p:cNvPr id="14" name="TextBox 13"/>
          <p:cNvSpPr txBox="1"/>
          <p:nvPr/>
        </p:nvSpPr>
        <p:spPr>
          <a:xfrm>
            <a:off x="640080" y="3474720"/>
            <a:ext cx="10881360" cy="640080"/>
          </a:xfrm>
          <a:prstGeom prst="rect">
            <a:avLst/>
          </a:prstGeom>
          <a:noFill/>
        </p:spPr>
        <p:txBody>
          <a:bodyPr wrap="square" anchor="t" lIns="0" rIns="0" tIns="0" bIns="0">
            <a:spAutoFit/>
          </a:bodyPr>
          <a:lstStyle/>
          <a:p>
            <a:pPr>
              <a:lnSpc>
                <a:spcPct val="130000"/>
              </a:lnSpc>
            </a:pPr>
            <a:r>
              <a:rPr sz="1300" b="0">
                <a:solidFill>
                  <a:srgbClr val="3A2A26"/>
                </a:solidFill>
                <a:latin typeface="Calibri"/>
              </a:rPr>
              <a:t>Nền tảng tinh thần vững chắc để vượt qua khủng hoảng tài chính châu Á (1997) và âm mưu chống phá của thế lực thù địch.</a:t>
            </a:r>
          </a:p>
        </p:txBody>
      </p:sp>
      <p:sp>
        <p:nvSpPr>
          <p:cNvPr id="15" name="TextBox 14"/>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23/25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DF6E8"/>
        </a:solidFill>
        <a:effectLst/>
      </p:bgPr>
    </p:bg>
    <p:spTree>
      <p:nvGrpSpPr>
        <p:cNvPr id="1" name=""/>
        <p:cNvGrpSpPr/>
        <p:nvPr/>
      </p:nvGrpSpPr>
      <p:grpSpPr/>
      <p:sp>
        <p:nvSpPr>
          <p:cNvPr id="2" name="TextBox 1"/>
          <p:cNvSpPr txBox="1"/>
          <p:nvPr/>
        </p:nvSpPr>
        <p:spPr>
          <a:xfrm>
            <a:off x="640080" y="502920"/>
            <a:ext cx="10881360" cy="411480"/>
          </a:xfrm>
          <a:prstGeom prst="rect">
            <a:avLst/>
          </a:prstGeom>
          <a:noFill/>
        </p:spPr>
        <p:txBody>
          <a:bodyPr wrap="square" anchor="t" lIns="0" rIns="0" tIns="0" bIns="0">
            <a:spAutoFit/>
          </a:bodyPr>
          <a:lstStyle/>
          <a:p>
            <a:pPr algn="l">
              <a:lnSpc>
                <a:spcPct val="115000"/>
              </a:lnSpc>
              <a:spcAft>
                <a:spcPts val="0"/>
              </a:spcAft>
            </a:pPr>
            <a:r>
              <a:rPr sz="1400" b="1" i="0">
                <a:solidFill>
                  <a:srgbClr val="C8102E"/>
                </a:solidFill>
                <a:latin typeface="Calibri"/>
              </a:rPr>
              <a:t>04 · GIÁ TRỊ THỜI ĐẠI VÀ TẦM NHÌN VƯƠN TỚI TƯƠNG LAI</a:t>
            </a:r>
          </a:p>
        </p:txBody>
      </p:sp>
      <p:sp>
        <p:nvSpPr>
          <p:cNvPr id="3" name="Rectangle 2"/>
          <p:cNvSpPr/>
          <p:nvPr/>
        </p:nvSpPr>
        <p:spPr>
          <a:xfrm>
            <a:off x="640080" y="1097280"/>
            <a:ext cx="50800" cy="16459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90880" y="1097280"/>
            <a:ext cx="10830560" cy="1645920"/>
          </a:xfrm>
          <a:prstGeom prst="rect">
            <a:avLst/>
          </a:prstGeom>
          <a:solidFill>
            <a:srgbClr val="FC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207008"/>
            <a:ext cx="10378440" cy="1426464"/>
          </a:xfrm>
          <a:prstGeom prst="rect">
            <a:avLst/>
          </a:prstGeom>
          <a:noFill/>
        </p:spPr>
        <p:txBody>
          <a:bodyPr wrap="square" anchor="ctr" lIns="0" rIns="0" tIns="0" bIns="0">
            <a:spAutoFit/>
          </a:bodyPr>
          <a:lstStyle/>
          <a:p>
            <a:pPr>
              <a:lnSpc>
                <a:spcPct val="130000"/>
              </a:lnSpc>
            </a:pPr>
            <a:r>
              <a:rPr sz="1500" b="0">
                <a:solidFill>
                  <a:srgbClr val="1A1210"/>
                </a:solidFill>
                <a:latin typeface="Calibri"/>
              </a:rPr>
              <a:t>Những quyết sách chiến lược giai đoạn 1996–2005 đã tạo ra </a:t>
            </a:r>
            <a:r>
              <a:rPr sz="1500" b="1">
                <a:solidFill>
                  <a:srgbClr val="8C0A1F"/>
                </a:solidFill>
                <a:latin typeface="Calibri"/>
              </a:rPr>
              <a:t>thế và lực mới</a:t>
            </a:r>
            <a:r>
              <a:rPr sz="1500" b="0">
                <a:solidFill>
                  <a:srgbClr val="1A1210"/>
                </a:solidFill>
                <a:latin typeface="Calibri"/>
              </a:rPr>
              <a:t>, đặt nền móng vững chắc về cơ sở hạ tầng, kinh tế, thể chế để Việt Nam bước vào thế kỷ XXI vươn mình hội nhập sâu rộng (gia nhập WTO, ký kết các FTA thế hệ mới).</a:t>
            </a:r>
          </a:p>
        </p:txBody>
      </p:sp>
      <p:sp>
        <p:nvSpPr>
          <p:cNvPr id="6" name="TextBox 5"/>
          <p:cNvSpPr txBox="1"/>
          <p:nvPr/>
        </p:nvSpPr>
        <p:spPr>
          <a:xfrm>
            <a:off x="640080" y="3017520"/>
            <a:ext cx="10881360" cy="1188720"/>
          </a:xfrm>
          <a:prstGeom prst="rect">
            <a:avLst/>
          </a:prstGeom>
          <a:noFill/>
        </p:spPr>
        <p:txBody>
          <a:bodyPr wrap="square" anchor="t" lIns="0" rIns="0" tIns="0" bIns="0">
            <a:spAutoFit/>
          </a:bodyPr>
          <a:lstStyle/>
          <a:p>
            <a:pPr>
              <a:lnSpc>
                <a:spcPct val="135000"/>
              </a:lnSpc>
            </a:pPr>
            <a:r>
              <a:rPr sz="1400" b="0">
                <a:solidFill>
                  <a:srgbClr val="3A2A26"/>
                </a:solidFill>
                <a:latin typeface="Calibri"/>
              </a:rPr>
              <a:t>Đồng thời, bài học về kết hợp sức mạnh dân tộc với sức mạnh thời đại và coi xây dựng Đảng là nhiệm vụ then chốt vẫn còn nguyên giá trị, soi đường cho công cuộc xây dựng và bảo vệ Tổ quốc hôm nay, hướng tới khát vọng </a:t>
            </a:r>
            <a:r>
              <a:rPr sz="1400" b="1">
                <a:solidFill>
                  <a:srgbClr val="8C0A1F"/>
                </a:solidFill>
                <a:latin typeface="Calibri"/>
              </a:rPr>
              <a:t>Việt Nam hùng cường vào năm 2045</a:t>
            </a:r>
            <a:r>
              <a:rPr sz="1400" b="0">
                <a:solidFill>
                  <a:srgbClr val="3A2A26"/>
                </a:solidFill>
                <a:latin typeface="Calibri"/>
              </a:rPr>
              <a:t>.</a:t>
            </a:r>
          </a:p>
        </p:txBody>
      </p:sp>
      <p:sp>
        <p:nvSpPr>
          <p:cNvPr id="7" name="TextBox 6"/>
          <p:cNvSpPr txBox="1"/>
          <p:nvPr/>
        </p:nvSpPr>
        <p:spPr>
          <a:xfrm>
            <a:off x="11475720" y="6492240"/>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3A2A26"/>
                </a:solidFill>
                <a:latin typeface="Calibri"/>
              </a:rPr>
              <a:t>24/25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4A0712"/>
        </a:solidFill>
        <a:effectLst/>
      </p:bgPr>
    </p:bg>
    <p:spTree>
      <p:nvGrpSpPr>
        <p:cNvPr id="1" name=""/>
        <p:cNvGrpSpPr/>
        <p:nvPr/>
      </p:nvGrpSpPr>
      <p:grpSpPr/>
      <p:sp>
        <p:nvSpPr>
          <p:cNvPr id="2" name="TextBox 1"/>
          <p:cNvSpPr txBox="1"/>
          <p:nvPr/>
        </p:nvSpPr>
        <p:spPr>
          <a:xfrm>
            <a:off x="1371600" y="1188720"/>
            <a:ext cx="9445752" cy="548640"/>
          </a:xfrm>
          <a:prstGeom prst="rect">
            <a:avLst/>
          </a:prstGeom>
          <a:noFill/>
        </p:spPr>
        <p:txBody>
          <a:bodyPr wrap="square" anchor="ctr" lIns="0" rIns="0" tIns="0" bIns="0">
            <a:spAutoFit/>
          </a:bodyPr>
          <a:lstStyle/>
          <a:p>
            <a:pPr algn="ctr">
              <a:lnSpc>
                <a:spcPct val="115000"/>
              </a:lnSpc>
              <a:spcAft>
                <a:spcPts val="0"/>
              </a:spcAft>
            </a:pPr>
            <a:r>
              <a:rPr sz="3200" b="0" i="0">
                <a:solidFill>
                  <a:srgbClr val="FFCD00"/>
                </a:solidFill>
                <a:latin typeface="Calibri"/>
              </a:rPr>
              <a:t>★</a:t>
            </a:r>
          </a:p>
        </p:txBody>
      </p:sp>
      <p:sp>
        <p:nvSpPr>
          <p:cNvPr id="3" name="TextBox 2"/>
          <p:cNvSpPr txBox="1"/>
          <p:nvPr/>
        </p:nvSpPr>
        <p:spPr>
          <a:xfrm>
            <a:off x="1371600" y="1828800"/>
            <a:ext cx="9445752" cy="731520"/>
          </a:xfrm>
          <a:prstGeom prst="rect">
            <a:avLst/>
          </a:prstGeom>
          <a:noFill/>
        </p:spPr>
        <p:txBody>
          <a:bodyPr wrap="square" anchor="t" lIns="0" rIns="0" tIns="0" bIns="0">
            <a:spAutoFit/>
          </a:bodyPr>
          <a:lstStyle/>
          <a:p>
            <a:pPr algn="ctr">
              <a:lnSpc>
                <a:spcPct val="115000"/>
              </a:lnSpc>
              <a:spcAft>
                <a:spcPts val="0"/>
              </a:spcAft>
            </a:pPr>
            <a:r>
              <a:rPr sz="3400" b="1" i="0">
                <a:solidFill>
                  <a:srgbClr val="FFFFFF"/>
                </a:solidFill>
                <a:latin typeface="Georgia"/>
              </a:rPr>
              <a:t>Kết luận chung</a:t>
            </a:r>
          </a:p>
        </p:txBody>
      </p:sp>
      <p:sp>
        <p:nvSpPr>
          <p:cNvPr id="4" name="TextBox 3"/>
          <p:cNvSpPr txBox="1"/>
          <p:nvPr/>
        </p:nvSpPr>
        <p:spPr>
          <a:xfrm>
            <a:off x="2011680" y="2743200"/>
            <a:ext cx="8165592" cy="1828800"/>
          </a:xfrm>
          <a:prstGeom prst="rect">
            <a:avLst/>
          </a:prstGeom>
          <a:noFill/>
        </p:spPr>
        <p:txBody>
          <a:bodyPr wrap="square" anchor="t" lIns="0" rIns="0" tIns="0" bIns="0">
            <a:spAutoFit/>
          </a:bodyPr>
          <a:lstStyle/>
          <a:p>
            <a:pPr algn="ctr">
              <a:lnSpc>
                <a:spcPct val="140000"/>
              </a:lnSpc>
            </a:pPr>
            <a:r>
              <a:rPr sz="1600" b="0">
                <a:solidFill>
                  <a:srgbClr val="EEDDDD"/>
                </a:solidFill>
                <a:latin typeface="Calibri"/>
              </a:rPr>
              <a:t>Sự lãnh đạo đúng đắn, sáng tạo, nhạy bén và bản lĩnh của Đảng Cộng sản Việt Nam qua các kỳ Đại hội VIII và IX chính là </a:t>
            </a:r>
            <a:r>
              <a:rPr sz="1600" b="1">
                <a:solidFill>
                  <a:srgbClr val="FFCD00"/>
                </a:solidFill>
                <a:latin typeface="Calibri"/>
              </a:rPr>
              <a:t>nhân tố quyết định</a:t>
            </a:r>
            <a:r>
              <a:rPr sz="1600" b="0">
                <a:solidFill>
                  <a:srgbClr val="EEDDDD"/>
                </a:solidFill>
                <a:latin typeface="Calibri"/>
              </a:rPr>
              <a:t> đưa công cuộc Đổi mới đi đến những thắng lợi to lớn, có ý nghĩa lịch sử — tạo tiền đề cho sự phát triển rực rỡ của đất nước ngày nay.</a:t>
            </a:r>
          </a:p>
        </p:txBody>
      </p:sp>
      <p:sp>
        <p:nvSpPr>
          <p:cNvPr id="5" name="TextBox 4"/>
          <p:cNvSpPr txBox="1"/>
          <p:nvPr/>
        </p:nvSpPr>
        <p:spPr>
          <a:xfrm>
            <a:off x="1371600" y="4846320"/>
            <a:ext cx="9445752" cy="457200"/>
          </a:xfrm>
          <a:prstGeom prst="rect">
            <a:avLst/>
          </a:prstGeom>
          <a:noFill/>
        </p:spPr>
        <p:txBody>
          <a:bodyPr wrap="square" anchor="t" lIns="0" rIns="0" tIns="0" bIns="0">
            <a:spAutoFit/>
          </a:bodyPr>
          <a:lstStyle/>
          <a:p>
            <a:pPr algn="ctr">
              <a:lnSpc>
                <a:spcPct val="115000"/>
              </a:lnSpc>
              <a:spcAft>
                <a:spcPts val="0"/>
              </a:spcAft>
            </a:pPr>
            <a:r>
              <a:rPr sz="1400" b="1" i="0">
                <a:solidFill>
                  <a:srgbClr val="F4DD8A"/>
                </a:solidFill>
                <a:latin typeface="Calibri"/>
              </a:rPr>
              <a:t>CẢM ƠN ĐÃ THEO DÕI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